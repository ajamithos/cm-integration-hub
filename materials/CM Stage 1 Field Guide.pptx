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ectangle 6"/>
          <p:cNvSpPr/>
          <p:nvPr/>
        </p:nvSpPr>
        <p:spPr>
          <a:xfrm>
            <a:off x="0" y="0"/>
            <a:ext cx="4572000" cy="5143500"/>
          </a:xfrm>
          <a:prstGeom prst="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0000" y="1200000"/>
            <a:ext cx="3800000" cy="1600000"/>
          </a:xfrm>
          <a:prstGeom prst="rect">
            <a:avLst/>
          </a:prstGeom>
          <a:noFill/>
        </p:spPr>
        <p:txBody>
          <a:bodyPr wrap="square">
            <a:spAutoFit/>
          </a:bodyPr>
          <a:lstStyle/>
          <a:p>
            <a:r>
              <a:rPr sz="3600" b="1">
                <a:solidFill>
                  <a:srgbClr val="FFFFFF"/>
                </a:solidFill>
                <a:latin typeface="Calibri"/>
              </a:rPr>
              <a:t>CM Stage 1</a:t>
            </a:r>
          </a:p>
          <a:p>
            <a:pPr algn="l">
              <a:spcBef>
                <a:spcPts val="0"/>
              </a:spcBef>
              <a:spcAft>
                <a:spcPts val="400"/>
              </a:spcAft>
            </a:pPr>
            <a:r>
              <a:rPr sz="3600" b="1" i="0">
                <a:solidFill>
                  <a:srgbClr val="1A9988"/>
                </a:solidFill>
                <a:latin typeface="Calibri"/>
              </a:rPr>
              <a:t>Field Guide</a:t>
            </a:r>
          </a:p>
        </p:txBody>
      </p:sp>
      <p:sp>
        <p:nvSpPr>
          <p:cNvPr id="9" name="TextBox 8"/>
          <p:cNvSpPr txBox="1"/>
          <p:nvPr/>
        </p:nvSpPr>
        <p:spPr>
          <a:xfrm>
            <a:off x="400000" y="3000000"/>
            <a:ext cx="3800000" cy="800000"/>
          </a:xfrm>
          <a:prstGeom prst="rect">
            <a:avLst/>
          </a:prstGeom>
          <a:noFill/>
        </p:spPr>
        <p:txBody>
          <a:bodyPr wrap="square">
            <a:spAutoFit/>
          </a:bodyPr>
          <a:lstStyle/>
          <a:p>
            <a:r>
              <a:rPr sz="1100">
                <a:solidFill>
                  <a:srgbClr val="AAAAAA"/>
                </a:solidFill>
                <a:latin typeface="Calibri"/>
              </a:rPr>
              <a:t>Navigation, Communication, Prioritization, Observation</a:t>
            </a:r>
          </a:p>
        </p:txBody>
      </p:sp>
      <p:sp>
        <p:nvSpPr>
          <p:cNvPr id="10" name="TextBox 9"/>
          <p:cNvSpPr txBox="1"/>
          <p:nvPr/>
        </p:nvSpPr>
        <p:spPr>
          <a:xfrm>
            <a:off x="5000000" y="1600000"/>
            <a:ext cx="3600000" cy="1200000"/>
          </a:xfrm>
          <a:prstGeom prst="rect">
            <a:avLst/>
          </a:prstGeom>
          <a:noFill/>
        </p:spPr>
        <p:txBody>
          <a:bodyPr wrap="square">
            <a:spAutoFit/>
          </a:bodyPr>
          <a:lstStyle/>
          <a:p>
            <a:r>
              <a:rPr sz="1400" b="1">
                <a:solidFill>
                  <a:srgbClr val="232F3E"/>
                </a:solidFill>
                <a:latin typeface="Calibri"/>
              </a:rPr>
              <a:t>CM Pilot Program</a:t>
            </a:r>
          </a:p>
          <a:p>
            <a:pPr algn="l">
              <a:spcBef>
                <a:spcPts val="800"/>
              </a:spcBef>
              <a:spcAft>
                <a:spcPts val="400"/>
              </a:spcAft>
            </a:pPr>
            <a:r>
              <a:rPr sz="1100" b="0" i="0">
                <a:solidFill>
                  <a:srgbClr val="1A1A1A"/>
                </a:solidFill>
                <a:latin typeface="Calibri"/>
              </a:rPr>
              <a:t>Model 2 Partnership</a:t>
            </a:r>
          </a:p>
          <a:p>
            <a:pPr algn="l">
              <a:spcBef>
                <a:spcPts val="0"/>
              </a:spcBef>
              <a:spcAft>
                <a:spcPts val="400"/>
              </a:spcAft>
            </a:pPr>
            <a:r>
              <a:rPr sz="600" b="0" i="0">
                <a:solidFill>
                  <a:srgbClr val="1A1A1A"/>
                </a:solidFill>
                <a:latin typeface="Calibri"/>
              </a:rPr>
              <a:t/>
            </a:r>
          </a:p>
          <a:p>
            <a:pPr algn="l">
              <a:spcBef>
                <a:spcPts val="1200"/>
              </a:spcBef>
              <a:spcAft>
                <a:spcPts val="400"/>
              </a:spcAft>
            </a:pPr>
            <a:r>
              <a:rPr sz="900" b="0" i="0">
                <a:solidFill>
                  <a:srgbClr val="1A1A1A"/>
                </a:solidFill>
                <a:latin typeface="Calibri"/>
              </a:rPr>
              <a:t>This guide is yours. Use it during the training program and carry it into Stage 1. Adapt it to your account. Ask your CCM what works for them. Then make it your own.</a:t>
            </a:r>
          </a:p>
        </p:txBody>
      </p:sp>
      <p:sp>
        <p:nvSpPr>
          <p:cNvPr id="11" name="TextBox 10"/>
          <p:cNvSpPr txBox="1"/>
          <p:nvPr/>
        </p:nvSpPr>
        <p:spPr>
          <a:xfrm>
            <a:off x="213600" y="4854587"/>
            <a:ext cx="100000" cy="132080"/>
          </a:xfrm>
          <a:prstGeom prst="rect">
            <a:avLst/>
          </a:prstGeom>
          <a:noFill/>
        </p:spPr>
        <p:txBody>
          <a:bodyPr wrap="square">
            <a:spAutoFit/>
          </a:bodyPr>
          <a:lstStyle/>
          <a:p>
            <a:r>
              <a:rPr sz="700">
                <a:solidFill>
                  <a:srgbClr val="FFFFFF"/>
                </a:solidFill>
                <a:latin typeface="Arial"/>
              </a:rPr>
              <a:t>1</a:t>
            </a:r>
          </a:p>
        </p:txBody>
      </p:sp>
      <p:sp>
        <p:nvSpPr>
          <p:cNvPr id="12" name="TextBox 11"/>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590000" y="154000"/>
            <a:ext cx="166000" cy="208000"/>
          </a:xfrm>
          <a:prstGeom prst="rect">
            <a:avLst/>
          </a:prstGeom>
          <a:noFill/>
        </p:spPr>
        <p:txBody>
          <a:bodyPr wrap="square">
            <a:spAutoFit/>
          </a:bodyPr>
          <a:lstStyle/>
          <a:p>
            <a:r>
              <a:rPr sz="1200" b="1">
                <a:solidFill>
                  <a:srgbClr val="696B6E"/>
                </a:solidFill>
                <a:latin typeface="Calibri"/>
              </a:rPr>
              <a:t>—</a:t>
            </a:r>
          </a:p>
        </p:txBody>
      </p:sp>
      <p:sp>
        <p:nvSpPr>
          <p:cNvPr id="8" name="TextBox 7"/>
          <p:cNvSpPr txBox="1"/>
          <p:nvPr/>
        </p:nvSpPr>
        <p:spPr>
          <a:xfrm>
            <a:off x="590000" y="400000"/>
            <a:ext cx="4000000" cy="400000"/>
          </a:xfrm>
          <a:prstGeom prst="rect">
            <a:avLst/>
          </a:prstGeom>
          <a:noFill/>
        </p:spPr>
        <p:txBody>
          <a:bodyPr wrap="square">
            <a:spAutoFit/>
          </a:bodyPr>
          <a:lstStyle/>
          <a:p>
            <a:r>
              <a:rPr sz="1600" b="1">
                <a:solidFill>
                  <a:srgbClr val="232F3E"/>
                </a:solidFill>
                <a:latin typeface="Calibri"/>
              </a:rPr>
              <a:t>Contents</a:t>
            </a:r>
          </a:p>
        </p:txBody>
      </p:sp>
      <p:sp>
        <p:nvSpPr>
          <p:cNvPr id="9" name="TextBox 8"/>
          <p:cNvSpPr txBox="1"/>
          <p:nvPr/>
        </p:nvSpPr>
        <p:spPr>
          <a:xfrm>
            <a:off x="700000" y="1000000"/>
            <a:ext cx="500000" cy="350000"/>
          </a:xfrm>
          <a:prstGeom prst="rect">
            <a:avLst/>
          </a:prstGeom>
          <a:noFill/>
        </p:spPr>
        <p:txBody>
          <a:bodyPr wrap="square">
            <a:spAutoFit/>
          </a:bodyPr>
          <a:lstStyle/>
          <a:p>
            <a:r>
              <a:rPr sz="2200" b="1">
                <a:solidFill>
                  <a:srgbClr val="1A9988"/>
                </a:solidFill>
                <a:latin typeface="Calibri"/>
              </a:rPr>
              <a:t>01</a:t>
            </a:r>
          </a:p>
        </p:txBody>
      </p:sp>
      <p:sp>
        <p:nvSpPr>
          <p:cNvPr id="10" name="TextBox 9"/>
          <p:cNvSpPr txBox="1"/>
          <p:nvPr/>
        </p:nvSpPr>
        <p:spPr>
          <a:xfrm>
            <a:off x="1200000" y="1000000"/>
            <a:ext cx="5000000" cy="200000"/>
          </a:xfrm>
          <a:prstGeom prst="rect">
            <a:avLst/>
          </a:prstGeom>
          <a:noFill/>
        </p:spPr>
        <p:txBody>
          <a:bodyPr wrap="square">
            <a:spAutoFit/>
          </a:bodyPr>
          <a:lstStyle/>
          <a:p>
            <a:r>
              <a:rPr sz="1400" b="1">
                <a:solidFill>
                  <a:srgbClr val="232F3E"/>
                </a:solidFill>
                <a:latin typeface="Calibri"/>
              </a:rPr>
              <a:t>Navigation Framework</a:t>
            </a:r>
          </a:p>
        </p:txBody>
      </p:sp>
      <p:sp>
        <p:nvSpPr>
          <p:cNvPr id="11" name="TextBox 10"/>
          <p:cNvSpPr txBox="1"/>
          <p:nvPr/>
        </p:nvSpPr>
        <p:spPr>
          <a:xfrm>
            <a:off x="1200000" y="1230000"/>
            <a:ext cx="5000000" cy="200000"/>
          </a:xfrm>
          <a:prstGeom prst="rect">
            <a:avLst/>
          </a:prstGeom>
          <a:noFill/>
        </p:spPr>
        <p:txBody>
          <a:bodyPr wrap="square">
            <a:spAutoFit/>
          </a:bodyPr>
          <a:lstStyle/>
          <a:p>
            <a:r>
              <a:rPr sz="900">
                <a:solidFill>
                  <a:srgbClr val="1A1A1A"/>
                </a:solidFill>
                <a:latin typeface="Calibri"/>
              </a:rPr>
              <a:t>Ask, Attempt, Escalate</a:t>
            </a:r>
          </a:p>
        </p:txBody>
      </p:sp>
      <p:sp>
        <p:nvSpPr>
          <p:cNvPr id="12" name="TextBox 11"/>
          <p:cNvSpPr txBox="1"/>
          <p:nvPr/>
        </p:nvSpPr>
        <p:spPr>
          <a:xfrm>
            <a:off x="700000" y="1580000"/>
            <a:ext cx="500000" cy="350000"/>
          </a:xfrm>
          <a:prstGeom prst="rect">
            <a:avLst/>
          </a:prstGeom>
          <a:noFill/>
        </p:spPr>
        <p:txBody>
          <a:bodyPr wrap="square">
            <a:spAutoFit/>
          </a:bodyPr>
          <a:lstStyle/>
          <a:p>
            <a:r>
              <a:rPr sz="2200" b="1">
                <a:solidFill>
                  <a:srgbClr val="1A9988"/>
                </a:solidFill>
                <a:latin typeface="Calibri"/>
              </a:rPr>
              <a:t>02</a:t>
            </a:r>
          </a:p>
        </p:txBody>
      </p:sp>
      <p:sp>
        <p:nvSpPr>
          <p:cNvPr id="13" name="TextBox 12"/>
          <p:cNvSpPr txBox="1"/>
          <p:nvPr/>
        </p:nvSpPr>
        <p:spPr>
          <a:xfrm>
            <a:off x="1200000" y="1580000"/>
            <a:ext cx="5000000" cy="200000"/>
          </a:xfrm>
          <a:prstGeom prst="rect">
            <a:avLst/>
          </a:prstGeom>
          <a:noFill/>
        </p:spPr>
        <p:txBody>
          <a:bodyPr wrap="square">
            <a:spAutoFit/>
          </a:bodyPr>
          <a:lstStyle/>
          <a:p>
            <a:r>
              <a:rPr sz="1400" b="1">
                <a:solidFill>
                  <a:srgbClr val="232F3E"/>
                </a:solidFill>
                <a:latin typeface="Calibri"/>
              </a:rPr>
              <a:t>Prioritization Framework</a:t>
            </a:r>
          </a:p>
        </p:txBody>
      </p:sp>
      <p:sp>
        <p:nvSpPr>
          <p:cNvPr id="14" name="TextBox 13"/>
          <p:cNvSpPr txBox="1"/>
          <p:nvPr/>
        </p:nvSpPr>
        <p:spPr>
          <a:xfrm>
            <a:off x="1200000" y="1810000"/>
            <a:ext cx="5000000" cy="200000"/>
          </a:xfrm>
          <a:prstGeom prst="rect">
            <a:avLst/>
          </a:prstGeom>
          <a:noFill/>
        </p:spPr>
        <p:txBody>
          <a:bodyPr wrap="square">
            <a:spAutoFit/>
          </a:bodyPr>
          <a:lstStyle/>
          <a:p>
            <a:r>
              <a:rPr sz="900">
                <a:solidFill>
                  <a:srgbClr val="1A1A1A"/>
                </a:solidFill>
                <a:latin typeface="Calibri"/>
              </a:rPr>
              <a:t>How to decide what to work on first</a:t>
            </a:r>
          </a:p>
        </p:txBody>
      </p:sp>
      <p:sp>
        <p:nvSpPr>
          <p:cNvPr id="15" name="TextBox 14"/>
          <p:cNvSpPr txBox="1"/>
          <p:nvPr/>
        </p:nvSpPr>
        <p:spPr>
          <a:xfrm>
            <a:off x="700000" y="2160000"/>
            <a:ext cx="500000" cy="350000"/>
          </a:xfrm>
          <a:prstGeom prst="rect">
            <a:avLst/>
          </a:prstGeom>
          <a:noFill/>
        </p:spPr>
        <p:txBody>
          <a:bodyPr wrap="square">
            <a:spAutoFit/>
          </a:bodyPr>
          <a:lstStyle/>
          <a:p>
            <a:r>
              <a:rPr sz="2200" b="1">
                <a:solidFill>
                  <a:srgbClr val="1A9988"/>
                </a:solidFill>
                <a:latin typeface="Calibri"/>
              </a:rPr>
              <a:t>03</a:t>
            </a:r>
          </a:p>
        </p:txBody>
      </p:sp>
      <p:sp>
        <p:nvSpPr>
          <p:cNvPr id="16" name="TextBox 15"/>
          <p:cNvSpPr txBox="1"/>
          <p:nvPr/>
        </p:nvSpPr>
        <p:spPr>
          <a:xfrm>
            <a:off x="1200000" y="2160000"/>
            <a:ext cx="5000000" cy="200000"/>
          </a:xfrm>
          <a:prstGeom prst="rect">
            <a:avLst/>
          </a:prstGeom>
          <a:noFill/>
        </p:spPr>
        <p:txBody>
          <a:bodyPr wrap="square">
            <a:spAutoFit/>
          </a:bodyPr>
          <a:lstStyle/>
          <a:p>
            <a:r>
              <a:rPr sz="1400" b="1">
                <a:solidFill>
                  <a:srgbClr val="232F3E"/>
                </a:solidFill>
                <a:latin typeface="Calibri"/>
              </a:rPr>
              <a:t>Communication Decision Tree</a:t>
            </a:r>
          </a:p>
        </p:txBody>
      </p:sp>
      <p:sp>
        <p:nvSpPr>
          <p:cNvPr id="17" name="TextBox 16"/>
          <p:cNvSpPr txBox="1"/>
          <p:nvPr/>
        </p:nvSpPr>
        <p:spPr>
          <a:xfrm>
            <a:off x="1200000" y="2390000"/>
            <a:ext cx="5000000" cy="200000"/>
          </a:xfrm>
          <a:prstGeom prst="rect">
            <a:avLst/>
          </a:prstGeom>
          <a:noFill/>
        </p:spPr>
        <p:txBody>
          <a:bodyPr wrap="square">
            <a:spAutoFit/>
          </a:bodyPr>
          <a:lstStyle/>
          <a:p>
            <a:r>
              <a:rPr sz="900">
                <a:solidFill>
                  <a:srgbClr val="1A1A1A"/>
                </a:solidFill>
                <a:latin typeface="Calibri"/>
              </a:rPr>
              <a:t>When to Slack, call, wait, or escalate</a:t>
            </a:r>
          </a:p>
        </p:txBody>
      </p:sp>
      <p:sp>
        <p:nvSpPr>
          <p:cNvPr id="18" name="TextBox 17"/>
          <p:cNvSpPr txBox="1"/>
          <p:nvPr/>
        </p:nvSpPr>
        <p:spPr>
          <a:xfrm>
            <a:off x="700000" y="2740000"/>
            <a:ext cx="500000" cy="350000"/>
          </a:xfrm>
          <a:prstGeom prst="rect">
            <a:avLst/>
          </a:prstGeom>
          <a:noFill/>
        </p:spPr>
        <p:txBody>
          <a:bodyPr wrap="square">
            <a:spAutoFit/>
          </a:bodyPr>
          <a:lstStyle/>
          <a:p>
            <a:r>
              <a:rPr sz="2200" b="1">
                <a:solidFill>
                  <a:srgbClr val="1A9988"/>
                </a:solidFill>
                <a:latin typeface="Calibri"/>
              </a:rPr>
              <a:t>04</a:t>
            </a:r>
          </a:p>
        </p:txBody>
      </p:sp>
      <p:sp>
        <p:nvSpPr>
          <p:cNvPr id="19" name="TextBox 18"/>
          <p:cNvSpPr txBox="1"/>
          <p:nvPr/>
        </p:nvSpPr>
        <p:spPr>
          <a:xfrm>
            <a:off x="1200000" y="2740000"/>
            <a:ext cx="5000000" cy="200000"/>
          </a:xfrm>
          <a:prstGeom prst="rect">
            <a:avLst/>
          </a:prstGeom>
          <a:noFill/>
        </p:spPr>
        <p:txBody>
          <a:bodyPr wrap="square">
            <a:spAutoFit/>
          </a:bodyPr>
          <a:lstStyle/>
          <a:p>
            <a:r>
              <a:rPr sz="1400" b="1">
                <a:solidFill>
                  <a:srgbClr val="232F3E"/>
                </a:solidFill>
                <a:latin typeface="Calibri"/>
              </a:rPr>
              <a:t>Observation Guide: Day 1</a:t>
            </a:r>
          </a:p>
        </p:txBody>
      </p:sp>
      <p:sp>
        <p:nvSpPr>
          <p:cNvPr id="20" name="TextBox 19"/>
          <p:cNvSpPr txBox="1"/>
          <p:nvPr/>
        </p:nvSpPr>
        <p:spPr>
          <a:xfrm>
            <a:off x="1200000" y="2970000"/>
            <a:ext cx="5000000" cy="200000"/>
          </a:xfrm>
          <a:prstGeom prst="rect">
            <a:avLst/>
          </a:prstGeom>
          <a:noFill/>
        </p:spPr>
        <p:txBody>
          <a:bodyPr wrap="square">
            <a:spAutoFit/>
          </a:bodyPr>
          <a:lstStyle/>
          <a:p>
            <a:r>
              <a:rPr sz="900">
                <a:solidFill>
                  <a:srgbClr val="1A1A1A"/>
                </a:solidFill>
                <a:latin typeface="Calibri"/>
              </a:rPr>
              <a:t>What Is an Account Team?</a:t>
            </a:r>
          </a:p>
        </p:txBody>
      </p:sp>
      <p:sp>
        <p:nvSpPr>
          <p:cNvPr id="21" name="TextBox 20"/>
          <p:cNvSpPr txBox="1"/>
          <p:nvPr/>
        </p:nvSpPr>
        <p:spPr>
          <a:xfrm>
            <a:off x="700000" y="3320000"/>
            <a:ext cx="500000" cy="350000"/>
          </a:xfrm>
          <a:prstGeom prst="rect">
            <a:avLst/>
          </a:prstGeom>
          <a:noFill/>
        </p:spPr>
        <p:txBody>
          <a:bodyPr wrap="square">
            <a:spAutoFit/>
          </a:bodyPr>
          <a:lstStyle/>
          <a:p>
            <a:r>
              <a:rPr sz="2200" b="1">
                <a:solidFill>
                  <a:srgbClr val="1A9988"/>
                </a:solidFill>
                <a:latin typeface="Calibri"/>
              </a:rPr>
              <a:t>05</a:t>
            </a:r>
          </a:p>
        </p:txBody>
      </p:sp>
      <p:sp>
        <p:nvSpPr>
          <p:cNvPr id="22" name="TextBox 21"/>
          <p:cNvSpPr txBox="1"/>
          <p:nvPr/>
        </p:nvSpPr>
        <p:spPr>
          <a:xfrm>
            <a:off x="1200000" y="3320000"/>
            <a:ext cx="5000000" cy="200000"/>
          </a:xfrm>
          <a:prstGeom prst="rect">
            <a:avLst/>
          </a:prstGeom>
          <a:noFill/>
        </p:spPr>
        <p:txBody>
          <a:bodyPr wrap="square">
            <a:spAutoFit/>
          </a:bodyPr>
          <a:lstStyle/>
          <a:p>
            <a:r>
              <a:rPr sz="1400" b="1">
                <a:solidFill>
                  <a:srgbClr val="232F3E"/>
                </a:solidFill>
                <a:latin typeface="Calibri"/>
              </a:rPr>
              <a:t>Observation Guide: Day 2</a:t>
            </a:r>
          </a:p>
        </p:txBody>
      </p:sp>
      <p:sp>
        <p:nvSpPr>
          <p:cNvPr id="23" name="TextBox 22"/>
          <p:cNvSpPr txBox="1"/>
          <p:nvPr/>
        </p:nvSpPr>
        <p:spPr>
          <a:xfrm>
            <a:off x="1200000" y="3550000"/>
            <a:ext cx="5000000" cy="200000"/>
          </a:xfrm>
          <a:prstGeom prst="rect">
            <a:avLst/>
          </a:prstGeom>
          <a:noFill/>
        </p:spPr>
        <p:txBody>
          <a:bodyPr wrap="square">
            <a:spAutoFit/>
          </a:bodyPr>
          <a:lstStyle/>
          <a:p>
            <a:r>
              <a:rPr sz="900">
                <a:solidFill>
                  <a:srgbClr val="1A1A1A"/>
                </a:solidFill>
                <a:latin typeface="Calibri"/>
              </a:rPr>
              <a:t>Partnership Walkthrough</a:t>
            </a:r>
          </a:p>
        </p:txBody>
      </p:sp>
      <p:sp>
        <p:nvSpPr>
          <p:cNvPr id="24" name="TextBox 23"/>
          <p:cNvSpPr txBox="1"/>
          <p:nvPr/>
        </p:nvSpPr>
        <p:spPr>
          <a:xfrm>
            <a:off x="700000" y="3900000"/>
            <a:ext cx="500000" cy="350000"/>
          </a:xfrm>
          <a:prstGeom prst="rect">
            <a:avLst/>
          </a:prstGeom>
          <a:noFill/>
        </p:spPr>
        <p:txBody>
          <a:bodyPr wrap="square">
            <a:spAutoFit/>
          </a:bodyPr>
          <a:lstStyle/>
          <a:p>
            <a:r>
              <a:rPr sz="2200" b="1">
                <a:solidFill>
                  <a:srgbClr val="1A9988"/>
                </a:solidFill>
                <a:latin typeface="Calibri"/>
              </a:rPr>
              <a:t>06</a:t>
            </a:r>
          </a:p>
        </p:txBody>
      </p:sp>
      <p:sp>
        <p:nvSpPr>
          <p:cNvPr id="25" name="TextBox 24"/>
          <p:cNvSpPr txBox="1"/>
          <p:nvPr/>
        </p:nvSpPr>
        <p:spPr>
          <a:xfrm>
            <a:off x="1200000" y="3900000"/>
            <a:ext cx="5000000" cy="200000"/>
          </a:xfrm>
          <a:prstGeom prst="rect">
            <a:avLst/>
          </a:prstGeom>
          <a:noFill/>
        </p:spPr>
        <p:txBody>
          <a:bodyPr wrap="square">
            <a:spAutoFit/>
          </a:bodyPr>
          <a:lstStyle/>
          <a:p>
            <a:r>
              <a:rPr sz="1400" b="1">
                <a:solidFill>
                  <a:srgbClr val="232F3E"/>
                </a:solidFill>
                <a:latin typeface="Calibri"/>
              </a:rPr>
              <a:t>Observation Guide: Day 3</a:t>
            </a:r>
          </a:p>
        </p:txBody>
      </p:sp>
      <p:sp>
        <p:nvSpPr>
          <p:cNvPr id="26" name="TextBox 25"/>
          <p:cNvSpPr txBox="1"/>
          <p:nvPr/>
        </p:nvSpPr>
        <p:spPr>
          <a:xfrm>
            <a:off x="1200000" y="4130000"/>
            <a:ext cx="5000000" cy="200000"/>
          </a:xfrm>
          <a:prstGeom prst="rect">
            <a:avLst/>
          </a:prstGeom>
          <a:noFill/>
        </p:spPr>
        <p:txBody>
          <a:bodyPr wrap="square">
            <a:spAutoFit/>
          </a:bodyPr>
          <a:lstStyle/>
          <a:p>
            <a:r>
              <a:rPr sz="900">
                <a:solidFill>
                  <a:srgbClr val="1A1A1A"/>
                </a:solidFill>
                <a:latin typeface="Calibri"/>
              </a:rPr>
              <a:t>Stage 1 Simulation</a:t>
            </a:r>
          </a:p>
        </p:txBody>
      </p:sp>
      <p:sp>
        <p:nvSpPr>
          <p:cNvPr id="27" name="TextBox 26"/>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2</a:t>
            </a:r>
          </a:p>
        </p:txBody>
      </p:sp>
      <p:sp>
        <p:nvSpPr>
          <p:cNvPr id="28" name="TextBox 27"/>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821918" y="958862"/>
            <a:ext cx="481330" cy="452120"/>
          </a:xfrm>
          <a:prstGeom prst="rect">
            <a:avLst/>
          </a:prstGeom>
          <a:noFill/>
        </p:spPr>
        <p:txBody>
          <a:bodyPr wrap="square">
            <a:spAutoFit/>
          </a:bodyPr>
          <a:lstStyle/>
          <a:p>
            <a:r>
              <a:rPr sz="2800" b="1">
                <a:solidFill>
                  <a:srgbClr val="1A9988"/>
                </a:solidFill>
                <a:latin typeface="Calibri"/>
              </a:rPr>
              <a:t>01</a:t>
            </a:r>
          </a:p>
        </p:txBody>
      </p:sp>
      <p:sp>
        <p:nvSpPr>
          <p:cNvPr id="8" name="TextBox 7"/>
          <p:cNvSpPr txBox="1"/>
          <p:nvPr/>
        </p:nvSpPr>
        <p:spPr>
          <a:xfrm>
            <a:off x="821918" y="1600000"/>
            <a:ext cx="5000000" cy="1200000"/>
          </a:xfrm>
          <a:prstGeom prst="rect">
            <a:avLst/>
          </a:prstGeom>
          <a:noFill/>
        </p:spPr>
        <p:txBody>
          <a:bodyPr wrap="square">
            <a:spAutoFit/>
          </a:bodyPr>
          <a:lstStyle/>
          <a:p>
            <a:r>
              <a:rPr sz="4200" b="0">
                <a:solidFill>
                  <a:srgbClr val="1C2D42"/>
                </a:solidFill>
                <a:latin typeface="Calibri"/>
              </a:rPr>
              <a:t>Navigation
Framework</a:t>
            </a:r>
          </a:p>
        </p:txBody>
      </p:sp>
      <p:sp>
        <p:nvSpPr>
          <p:cNvPr id="9" name="TextBox 8"/>
          <p:cNvSpPr txBox="1"/>
          <p:nvPr/>
        </p:nvSpPr>
        <p:spPr>
          <a:xfrm>
            <a:off x="821918" y="3200000"/>
            <a:ext cx="5000000" cy="700000"/>
          </a:xfrm>
          <a:prstGeom prst="rect">
            <a:avLst/>
          </a:prstGeom>
          <a:noFill/>
        </p:spPr>
        <p:txBody>
          <a:bodyPr wrap="square">
            <a:spAutoFit/>
          </a:bodyPr>
          <a:lstStyle/>
          <a:p>
            <a:r>
              <a:rPr sz="1600" b="1">
                <a:solidFill>
                  <a:srgbClr val="1A9988"/>
                </a:solidFill>
                <a:latin typeface="Calibri"/>
              </a:rPr>
              <a:t>Ask, Attempt, Escalate</a:t>
            </a:r>
          </a:p>
          <a:p>
            <a:pPr algn="l">
              <a:spcBef>
                <a:spcPts val="1200"/>
              </a:spcBef>
              <a:spcAft>
                <a:spcPts val="400"/>
              </a:spcAft>
            </a:pPr>
            <a:r>
              <a:rPr sz="1000" b="0" i="0">
                <a:solidFill>
                  <a:srgbClr val="1A1A1A"/>
                </a:solidFill>
                <a:latin typeface="Calibri"/>
              </a:rPr>
              <a:t>When you do not know the answer, this is your process.
It works in any situation, on any account, at any stage.</a:t>
            </a:r>
          </a:p>
        </p:txBody>
      </p:sp>
      <p:sp>
        <p:nvSpPr>
          <p:cNvPr id="10" name="TextBox 9"/>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3</a:t>
            </a:r>
          </a:p>
        </p:txBody>
      </p:sp>
      <p:sp>
        <p:nvSpPr>
          <p:cNvPr id="11" name="TextBox 10"/>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ectangle 6"/>
          <p:cNvSpPr/>
          <p:nvPr/>
        </p:nvSpPr>
        <p:spPr>
          <a:xfrm>
            <a:off x="400000" y="300000"/>
            <a:ext cx="2600000" cy="50000"/>
          </a:xfrm>
          <a:prstGeom prst="rect">
            <a:avLst/>
          </a:prstGeom>
          <a:solidFill>
            <a:srgbClr val="1A9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0000" y="400000"/>
            <a:ext cx="2600000" cy="300000"/>
          </a:xfrm>
          <a:prstGeom prst="rect">
            <a:avLst/>
          </a:prstGeom>
          <a:noFill/>
        </p:spPr>
        <p:txBody>
          <a:bodyPr wrap="square">
            <a:spAutoFit/>
          </a:bodyPr>
          <a:lstStyle/>
          <a:p>
            <a:r>
              <a:rPr sz="1800" b="1">
                <a:solidFill>
                  <a:srgbClr val="1A9988"/>
                </a:solidFill>
                <a:latin typeface="Calibri"/>
              </a:rPr>
              <a:t>ASK</a:t>
            </a:r>
          </a:p>
        </p:txBody>
      </p:sp>
      <p:sp>
        <p:nvSpPr>
          <p:cNvPr id="9" name="TextBox 8"/>
          <p:cNvSpPr txBox="1"/>
          <p:nvPr/>
        </p:nvSpPr>
        <p:spPr>
          <a:xfrm>
            <a:off x="400000" y="720000"/>
            <a:ext cx="2600000" cy="300000"/>
          </a:xfrm>
          <a:prstGeom prst="rect">
            <a:avLst/>
          </a:prstGeom>
          <a:noFill/>
        </p:spPr>
        <p:txBody>
          <a:bodyPr wrap="square">
            <a:spAutoFit/>
          </a:bodyPr>
          <a:lstStyle/>
          <a:p>
            <a:r>
              <a:rPr sz="900" b="1">
                <a:solidFill>
                  <a:srgbClr val="232F3E"/>
                </a:solidFill>
                <a:latin typeface="Calibri"/>
              </a:rPr>
              <a:t>Before you act, ask.</a:t>
            </a:r>
          </a:p>
        </p:txBody>
      </p:sp>
      <p:sp>
        <p:nvSpPr>
          <p:cNvPr id="10" name="TextBox 9"/>
          <p:cNvSpPr txBox="1"/>
          <p:nvPr/>
        </p:nvSpPr>
        <p:spPr>
          <a:xfrm>
            <a:off x="400000" y="1040000"/>
            <a:ext cx="2600000" cy="1000000"/>
          </a:xfrm>
          <a:prstGeom prst="rect">
            <a:avLst/>
          </a:prstGeom>
          <a:noFill/>
        </p:spPr>
        <p:txBody>
          <a:bodyPr wrap="square">
            <a:spAutoFit/>
          </a:bodyPr>
          <a:lstStyle/>
          <a:p>
            <a:r>
              <a:rPr sz="850">
                <a:solidFill>
                  <a:srgbClr val="1A1A1A"/>
                </a:solidFill>
                <a:latin typeface="Calibri"/>
              </a:rPr>
              <a:t>Check the SOP. Check the assignment notes. Check Slack history. Check with a peer. If you can find the answer within 15 minutes, great. If not, move to the next step.</a:t>
            </a:r>
          </a:p>
        </p:txBody>
      </p:sp>
      <p:sp>
        <p:nvSpPr>
          <p:cNvPr id="11" name="Rounded Rectangle 10"/>
          <p:cNvSpPr/>
          <p:nvPr/>
        </p:nvSpPr>
        <p:spPr>
          <a:xfrm>
            <a:off x="450000" y="2200000"/>
            <a:ext cx="2500000" cy="14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696B6E"/>
                </a:solidFill>
                <a:latin typeface="Calibri"/>
              </a:rPr>
              <a:t>Guardrail</a:t>
            </a:r>
          </a:p>
          <a:p>
            <a:pPr>
              <a:spcBef>
                <a:spcPts val="400"/>
              </a:spcBef>
            </a:pPr>
            <a:r>
              <a:rPr sz="800">
                <a:solidFill>
                  <a:srgbClr val="1A1A1A"/>
                </a:solidFill>
                <a:latin typeface="Calibri"/>
              </a:rPr>
              <a:t>Do not spend more than 15 minutes searching. That is the 15-Minute Rule. Searching longer does not make you more prepared. It just costs time.</a:t>
            </a:r>
          </a:p>
        </p:txBody>
      </p:sp>
      <p:sp>
        <p:nvSpPr>
          <p:cNvPr id="12" name="Rectangle 11"/>
          <p:cNvSpPr/>
          <p:nvPr/>
        </p:nvSpPr>
        <p:spPr>
          <a:xfrm>
            <a:off x="3300000" y="300000"/>
            <a:ext cx="2600000" cy="50000"/>
          </a:xfrm>
          <a:prstGeom prst="rect">
            <a:avLst/>
          </a:prstGeom>
          <a:solidFill>
            <a:srgbClr val="EB5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00000" y="400000"/>
            <a:ext cx="2600000" cy="300000"/>
          </a:xfrm>
          <a:prstGeom prst="rect">
            <a:avLst/>
          </a:prstGeom>
          <a:noFill/>
        </p:spPr>
        <p:txBody>
          <a:bodyPr wrap="square">
            <a:spAutoFit/>
          </a:bodyPr>
          <a:lstStyle/>
          <a:p>
            <a:r>
              <a:rPr sz="1800" b="1">
                <a:solidFill>
                  <a:srgbClr val="EB5600"/>
                </a:solidFill>
                <a:latin typeface="Calibri"/>
              </a:rPr>
              <a:t>ATTEMPT</a:t>
            </a:r>
          </a:p>
        </p:txBody>
      </p:sp>
      <p:sp>
        <p:nvSpPr>
          <p:cNvPr id="14" name="TextBox 13"/>
          <p:cNvSpPr txBox="1"/>
          <p:nvPr/>
        </p:nvSpPr>
        <p:spPr>
          <a:xfrm>
            <a:off x="3300000" y="720000"/>
            <a:ext cx="2600000" cy="300000"/>
          </a:xfrm>
          <a:prstGeom prst="rect">
            <a:avLst/>
          </a:prstGeom>
          <a:noFill/>
        </p:spPr>
        <p:txBody>
          <a:bodyPr wrap="square">
            <a:spAutoFit/>
          </a:bodyPr>
          <a:lstStyle/>
          <a:p>
            <a:r>
              <a:rPr sz="900" b="1">
                <a:solidFill>
                  <a:srgbClr val="232F3E"/>
                </a:solidFill>
                <a:latin typeface="Calibri"/>
              </a:rPr>
              <a:t>If asking did not get you a clear answer, make your best attempt.</a:t>
            </a:r>
          </a:p>
        </p:txBody>
      </p:sp>
      <p:sp>
        <p:nvSpPr>
          <p:cNvPr id="15" name="TextBox 14"/>
          <p:cNvSpPr txBox="1"/>
          <p:nvPr/>
        </p:nvSpPr>
        <p:spPr>
          <a:xfrm>
            <a:off x="3300000" y="1040000"/>
            <a:ext cx="2600000" cy="1000000"/>
          </a:xfrm>
          <a:prstGeom prst="rect">
            <a:avLst/>
          </a:prstGeom>
          <a:noFill/>
        </p:spPr>
        <p:txBody>
          <a:bodyPr wrap="square">
            <a:spAutoFit/>
          </a:bodyPr>
          <a:lstStyle/>
          <a:p>
            <a:r>
              <a:rPr sz="850">
                <a:solidFill>
                  <a:srgbClr val="1A1A1A"/>
                </a:solidFill>
                <a:latin typeface="Calibri"/>
              </a:rPr>
              <a:t>Use what you know, document what you did, and flag it. Do not wait for perfect clarity if the situation is time-sensitive.</a:t>
            </a:r>
          </a:p>
        </p:txBody>
      </p:sp>
      <p:sp>
        <p:nvSpPr>
          <p:cNvPr id="16" name="Rounded Rectangle 15"/>
          <p:cNvSpPr/>
          <p:nvPr/>
        </p:nvSpPr>
        <p:spPr>
          <a:xfrm>
            <a:off x="3350000" y="2200000"/>
            <a:ext cx="2500000" cy="14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696B6E"/>
                </a:solidFill>
                <a:latin typeface="Calibri"/>
              </a:rPr>
              <a:t>Guardrail</a:t>
            </a:r>
          </a:p>
          <a:p>
            <a:pPr>
              <a:spcBef>
                <a:spcPts val="400"/>
              </a:spcBef>
            </a:pPr>
            <a:r>
              <a:rPr sz="800">
                <a:solidFill>
                  <a:srgbClr val="1A1A1A"/>
                </a:solidFill>
                <a:latin typeface="Calibri"/>
              </a:rPr>
              <a:t>An attempt is not a guess. It is an informed action with a flag attached. Always tell your CCM: "I attempted X because of Y. Let me know if that was off."</a:t>
            </a:r>
          </a:p>
        </p:txBody>
      </p:sp>
      <p:sp>
        <p:nvSpPr>
          <p:cNvPr id="17" name="Rectangle 16"/>
          <p:cNvSpPr/>
          <p:nvPr/>
        </p:nvSpPr>
        <p:spPr>
          <a:xfrm>
            <a:off x="6200000" y="300000"/>
            <a:ext cx="2600000" cy="50000"/>
          </a:xfrm>
          <a:prstGeom prst="rect">
            <a:avLst/>
          </a:prstGeom>
          <a:solidFill>
            <a:srgbClr val="6AA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00000" y="400000"/>
            <a:ext cx="2600000" cy="300000"/>
          </a:xfrm>
          <a:prstGeom prst="rect">
            <a:avLst/>
          </a:prstGeom>
          <a:noFill/>
        </p:spPr>
        <p:txBody>
          <a:bodyPr wrap="square">
            <a:spAutoFit/>
          </a:bodyPr>
          <a:lstStyle/>
          <a:p>
            <a:r>
              <a:rPr sz="1800" b="1">
                <a:solidFill>
                  <a:srgbClr val="6AA4C8"/>
                </a:solidFill>
                <a:latin typeface="Calibri"/>
              </a:rPr>
              <a:t>ESCALATE</a:t>
            </a:r>
          </a:p>
        </p:txBody>
      </p:sp>
      <p:sp>
        <p:nvSpPr>
          <p:cNvPr id="19" name="TextBox 18"/>
          <p:cNvSpPr txBox="1"/>
          <p:nvPr/>
        </p:nvSpPr>
        <p:spPr>
          <a:xfrm>
            <a:off x="6200000" y="720000"/>
            <a:ext cx="2600000" cy="300000"/>
          </a:xfrm>
          <a:prstGeom prst="rect">
            <a:avLst/>
          </a:prstGeom>
          <a:noFill/>
        </p:spPr>
        <p:txBody>
          <a:bodyPr wrap="square">
            <a:spAutoFit/>
          </a:bodyPr>
          <a:lstStyle/>
          <a:p>
            <a:r>
              <a:rPr sz="900" b="1">
                <a:solidFill>
                  <a:srgbClr val="232F3E"/>
                </a:solidFill>
                <a:latin typeface="Calibri"/>
              </a:rPr>
              <a:t>If the situation is beyond your scope, unfamiliar, or could impact the client, escalate.</a:t>
            </a:r>
          </a:p>
        </p:txBody>
      </p:sp>
      <p:sp>
        <p:nvSpPr>
          <p:cNvPr id="20" name="TextBox 19"/>
          <p:cNvSpPr txBox="1"/>
          <p:nvPr/>
        </p:nvSpPr>
        <p:spPr>
          <a:xfrm>
            <a:off x="6200000" y="1040000"/>
            <a:ext cx="2600000" cy="1000000"/>
          </a:xfrm>
          <a:prstGeom prst="rect">
            <a:avLst/>
          </a:prstGeom>
          <a:noFill/>
        </p:spPr>
        <p:txBody>
          <a:bodyPr wrap="square">
            <a:spAutoFit/>
          </a:bodyPr>
          <a:lstStyle/>
          <a:p>
            <a:r>
              <a:rPr sz="850">
                <a:solidFill>
                  <a:srgbClr val="1A1A1A"/>
                </a:solidFill>
                <a:latin typeface="Calibri"/>
              </a:rPr>
              <a:t>This is not failure. This is how partnership works. Tell your CCM what happened, what you tried, and what you need from them.</a:t>
            </a:r>
          </a:p>
        </p:txBody>
      </p:sp>
      <p:sp>
        <p:nvSpPr>
          <p:cNvPr id="21" name="Rounded Rectangle 20"/>
          <p:cNvSpPr/>
          <p:nvPr/>
        </p:nvSpPr>
        <p:spPr>
          <a:xfrm>
            <a:off x="6250000" y="2200000"/>
            <a:ext cx="2500000" cy="14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696B6E"/>
                </a:solidFill>
                <a:latin typeface="Calibri"/>
              </a:rPr>
              <a:t>Guardrail</a:t>
            </a:r>
          </a:p>
          <a:p>
            <a:pPr>
              <a:spcBef>
                <a:spcPts val="400"/>
              </a:spcBef>
            </a:pPr>
            <a:r>
              <a:rPr sz="800">
                <a:solidFill>
                  <a:srgbClr val="1A1A1A"/>
                </a:solidFill>
                <a:latin typeface="Calibri"/>
              </a:rPr>
              <a:t>Escalation should include context. Not just "I need help" but "Here is the situation, here is what I tried, here is where I am stuck."</a:t>
            </a:r>
          </a:p>
        </p:txBody>
      </p:sp>
      <p:sp>
        <p:nvSpPr>
          <p:cNvPr id="22" name="TextBox 21"/>
          <p:cNvSpPr txBox="1"/>
          <p:nvPr/>
        </p:nvSpPr>
        <p:spPr>
          <a:xfrm>
            <a:off x="400000" y="4500000"/>
            <a:ext cx="7800000" cy="300000"/>
          </a:xfrm>
          <a:prstGeom prst="rect">
            <a:avLst/>
          </a:prstGeom>
          <a:noFill/>
        </p:spPr>
        <p:txBody>
          <a:bodyPr wrap="square">
            <a:spAutoFit/>
          </a:bodyPr>
          <a:lstStyle/>
          <a:p>
            <a:pPr algn="l"/>
            <a:r>
              <a:rPr sz="900" b="1">
                <a:solidFill>
                  <a:srgbClr val="1A9988"/>
                </a:solidFill>
                <a:latin typeface="Calibri"/>
              </a:rPr>
              <a:t>The goal is not to always have the answer. The goal is to always have a process for finding it.</a:t>
            </a:r>
          </a:p>
        </p:txBody>
      </p:sp>
      <p:sp>
        <p:nvSpPr>
          <p:cNvPr id="23" name="TextBox 22"/>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4</a:t>
            </a:r>
          </a:p>
        </p:txBody>
      </p:sp>
      <p:sp>
        <p:nvSpPr>
          <p:cNvPr id="24" name="TextBox 23"/>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821918" y="958862"/>
            <a:ext cx="481330" cy="452120"/>
          </a:xfrm>
          <a:prstGeom prst="rect">
            <a:avLst/>
          </a:prstGeom>
          <a:noFill/>
        </p:spPr>
        <p:txBody>
          <a:bodyPr wrap="square">
            <a:spAutoFit/>
          </a:bodyPr>
          <a:lstStyle/>
          <a:p>
            <a:r>
              <a:rPr sz="2800" b="1">
                <a:solidFill>
                  <a:srgbClr val="1A9988"/>
                </a:solidFill>
                <a:latin typeface="Calibri"/>
              </a:rPr>
              <a:t>02</a:t>
            </a:r>
          </a:p>
        </p:txBody>
      </p:sp>
      <p:sp>
        <p:nvSpPr>
          <p:cNvPr id="8" name="TextBox 7"/>
          <p:cNvSpPr txBox="1"/>
          <p:nvPr/>
        </p:nvSpPr>
        <p:spPr>
          <a:xfrm>
            <a:off x="821918" y="1600000"/>
            <a:ext cx="5000000" cy="1200000"/>
          </a:xfrm>
          <a:prstGeom prst="rect">
            <a:avLst/>
          </a:prstGeom>
          <a:noFill/>
        </p:spPr>
        <p:txBody>
          <a:bodyPr wrap="square">
            <a:spAutoFit/>
          </a:bodyPr>
          <a:lstStyle/>
          <a:p>
            <a:r>
              <a:rPr sz="4200">
                <a:solidFill>
                  <a:srgbClr val="1C2D42"/>
                </a:solidFill>
                <a:latin typeface="Calibri"/>
              </a:rPr>
              <a:t>Prioritization
Framework</a:t>
            </a:r>
          </a:p>
        </p:txBody>
      </p:sp>
      <p:sp>
        <p:nvSpPr>
          <p:cNvPr id="9" name="TextBox 8"/>
          <p:cNvSpPr txBox="1"/>
          <p:nvPr/>
        </p:nvSpPr>
        <p:spPr>
          <a:xfrm>
            <a:off x="821918" y="3200000"/>
            <a:ext cx="6000000" cy="700000"/>
          </a:xfrm>
          <a:prstGeom prst="rect">
            <a:avLst/>
          </a:prstGeom>
          <a:noFill/>
        </p:spPr>
        <p:txBody>
          <a:bodyPr wrap="square">
            <a:spAutoFit/>
          </a:bodyPr>
          <a:lstStyle/>
          <a:p>
            <a:r>
              <a:rPr sz="1600" b="1">
                <a:solidFill>
                  <a:srgbClr val="1A9988"/>
                </a:solidFill>
                <a:latin typeface="Calibri"/>
              </a:rPr>
              <a:t>How to decide what to work on first</a:t>
            </a:r>
          </a:p>
          <a:p>
            <a:pPr algn="l">
              <a:spcBef>
                <a:spcPts val="1200"/>
              </a:spcBef>
              <a:spcAft>
                <a:spcPts val="400"/>
              </a:spcAft>
            </a:pPr>
            <a:r>
              <a:rPr sz="1000" b="0" i="0">
                <a:solidFill>
                  <a:srgbClr val="1A1A1A"/>
                </a:solidFill>
                <a:latin typeface="Calibri"/>
              </a:rPr>
              <a:t>In AdOps, prioritization was largely handled by the queue: first in, first out, or urgency flags set by someone else. On an account team, you hold the context. You make the call.</a:t>
            </a:r>
          </a:p>
        </p:txBody>
      </p:sp>
      <p:sp>
        <p:nvSpPr>
          <p:cNvPr id="10" name="TextBox 9"/>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5</a:t>
            </a:r>
          </a:p>
        </p:txBody>
      </p:sp>
      <p:sp>
        <p:nvSpPr>
          <p:cNvPr id="11" name="TextBox 10"/>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400000" y="220000"/>
            <a:ext cx="350000" cy="280000"/>
          </a:xfrm>
          <a:prstGeom prst="rect">
            <a:avLst/>
          </a:prstGeom>
          <a:noFill/>
        </p:spPr>
        <p:txBody>
          <a:bodyPr wrap="square">
            <a:spAutoFit/>
          </a:bodyPr>
          <a:lstStyle/>
          <a:p>
            <a:pPr algn="ctr"/>
            <a:r>
              <a:rPr sz="1600" b="1">
                <a:solidFill>
                  <a:srgbClr val="1A9988"/>
                </a:solidFill>
                <a:latin typeface="Calibri"/>
              </a:rPr>
              <a:t>1</a:t>
            </a:r>
          </a:p>
        </p:txBody>
      </p:sp>
      <p:sp>
        <p:nvSpPr>
          <p:cNvPr id="8" name="TextBox 7"/>
          <p:cNvSpPr txBox="1"/>
          <p:nvPr/>
        </p:nvSpPr>
        <p:spPr>
          <a:xfrm>
            <a:off x="750000" y="200000"/>
            <a:ext cx="7800000" cy="240000"/>
          </a:xfrm>
          <a:prstGeom prst="rect">
            <a:avLst/>
          </a:prstGeom>
          <a:noFill/>
        </p:spPr>
        <p:txBody>
          <a:bodyPr wrap="square">
            <a:spAutoFit/>
          </a:bodyPr>
          <a:lstStyle/>
          <a:p>
            <a:r>
              <a:rPr sz="1100" b="1">
                <a:solidFill>
                  <a:srgbClr val="232F3E"/>
                </a:solidFill>
                <a:latin typeface="Calibri"/>
              </a:rPr>
              <a:t>Live issues come first.</a:t>
            </a:r>
          </a:p>
        </p:txBody>
      </p:sp>
      <p:sp>
        <p:nvSpPr>
          <p:cNvPr id="9" name="TextBox 8"/>
          <p:cNvSpPr txBox="1"/>
          <p:nvPr/>
        </p:nvSpPr>
        <p:spPr>
          <a:xfrm>
            <a:off x="750000" y="460000"/>
            <a:ext cx="7800000" cy="400000"/>
          </a:xfrm>
          <a:prstGeom prst="rect">
            <a:avLst/>
          </a:prstGeom>
          <a:noFill/>
        </p:spPr>
        <p:txBody>
          <a:bodyPr wrap="square">
            <a:spAutoFit/>
          </a:bodyPr>
          <a:lstStyle/>
          <a:p>
            <a:r>
              <a:rPr sz="900">
                <a:solidFill>
                  <a:srgbClr val="1A1A1A"/>
                </a:solidFill>
                <a:latin typeface="Calibri"/>
              </a:rPr>
              <a:t>If something is broken, misfiring, or impacting a campaign that is already running, that is your top priority. Everything else can wait.</a:t>
            </a:r>
          </a:p>
        </p:txBody>
      </p:sp>
      <p:sp>
        <p:nvSpPr>
          <p:cNvPr id="10" name="TextBox 9"/>
          <p:cNvSpPr txBox="1"/>
          <p:nvPr/>
        </p:nvSpPr>
        <p:spPr>
          <a:xfrm>
            <a:off x="400000" y="900000"/>
            <a:ext cx="350000" cy="280000"/>
          </a:xfrm>
          <a:prstGeom prst="rect">
            <a:avLst/>
          </a:prstGeom>
          <a:noFill/>
        </p:spPr>
        <p:txBody>
          <a:bodyPr wrap="square">
            <a:spAutoFit/>
          </a:bodyPr>
          <a:lstStyle/>
          <a:p>
            <a:pPr algn="ctr"/>
            <a:r>
              <a:rPr sz="1600" b="1">
                <a:solidFill>
                  <a:srgbClr val="1A9988"/>
                </a:solidFill>
                <a:latin typeface="Calibri"/>
              </a:rPr>
              <a:t>2</a:t>
            </a:r>
          </a:p>
        </p:txBody>
      </p:sp>
      <p:sp>
        <p:nvSpPr>
          <p:cNvPr id="11" name="TextBox 10"/>
          <p:cNvSpPr txBox="1"/>
          <p:nvPr/>
        </p:nvSpPr>
        <p:spPr>
          <a:xfrm>
            <a:off x="750000" y="880000"/>
            <a:ext cx="7800000" cy="240000"/>
          </a:xfrm>
          <a:prstGeom prst="rect">
            <a:avLst/>
          </a:prstGeom>
          <a:noFill/>
        </p:spPr>
        <p:txBody>
          <a:bodyPr wrap="square">
            <a:spAutoFit/>
          </a:bodyPr>
          <a:lstStyle/>
          <a:p>
            <a:r>
              <a:rPr sz="1100" b="1">
                <a:solidFill>
                  <a:srgbClr val="232F3E"/>
                </a:solidFill>
                <a:latin typeface="Calibri"/>
              </a:rPr>
              <a:t>Time-sensitivity is not the same as urgency.</a:t>
            </a:r>
          </a:p>
        </p:txBody>
      </p:sp>
      <p:sp>
        <p:nvSpPr>
          <p:cNvPr id="12" name="TextBox 11"/>
          <p:cNvSpPr txBox="1"/>
          <p:nvPr/>
        </p:nvSpPr>
        <p:spPr>
          <a:xfrm>
            <a:off x="750000" y="1140000"/>
            <a:ext cx="7800000" cy="400000"/>
          </a:xfrm>
          <a:prstGeom prst="rect">
            <a:avLst/>
          </a:prstGeom>
          <a:noFill/>
        </p:spPr>
        <p:txBody>
          <a:bodyPr wrap="square">
            <a:spAutoFit/>
          </a:bodyPr>
          <a:lstStyle/>
          <a:p>
            <a:r>
              <a:rPr sz="900">
                <a:solidFill>
                  <a:srgbClr val="1A1A1A"/>
                </a:solidFill>
                <a:latin typeface="Calibri"/>
              </a:rPr>
              <a:t>An assignment due in 48 hours is time-sensitive. A tracking pixel that is not firing on a live campaign is urgent. Know the difference.</a:t>
            </a:r>
          </a:p>
        </p:txBody>
      </p:sp>
      <p:sp>
        <p:nvSpPr>
          <p:cNvPr id="13" name="TextBox 12"/>
          <p:cNvSpPr txBox="1"/>
          <p:nvPr/>
        </p:nvSpPr>
        <p:spPr>
          <a:xfrm>
            <a:off x="400000" y="1580000"/>
            <a:ext cx="350000" cy="280000"/>
          </a:xfrm>
          <a:prstGeom prst="rect">
            <a:avLst/>
          </a:prstGeom>
          <a:noFill/>
        </p:spPr>
        <p:txBody>
          <a:bodyPr wrap="square">
            <a:spAutoFit/>
          </a:bodyPr>
          <a:lstStyle/>
          <a:p>
            <a:pPr algn="ctr"/>
            <a:r>
              <a:rPr sz="1600" b="1">
                <a:solidFill>
                  <a:srgbClr val="1A9988"/>
                </a:solidFill>
                <a:latin typeface="Calibri"/>
              </a:rPr>
              <a:t>3</a:t>
            </a:r>
          </a:p>
        </p:txBody>
      </p:sp>
      <p:sp>
        <p:nvSpPr>
          <p:cNvPr id="14" name="TextBox 13"/>
          <p:cNvSpPr txBox="1"/>
          <p:nvPr/>
        </p:nvSpPr>
        <p:spPr>
          <a:xfrm>
            <a:off x="750000" y="1560000"/>
            <a:ext cx="7800000" cy="240000"/>
          </a:xfrm>
          <a:prstGeom prst="rect">
            <a:avLst/>
          </a:prstGeom>
          <a:noFill/>
        </p:spPr>
        <p:txBody>
          <a:bodyPr wrap="square">
            <a:spAutoFit/>
          </a:bodyPr>
          <a:lstStyle/>
          <a:p>
            <a:r>
              <a:rPr sz="1100" b="1">
                <a:solidFill>
                  <a:srgbClr val="232F3E"/>
                </a:solidFill>
                <a:latin typeface="Calibri"/>
              </a:rPr>
              <a:t>Blocked items need communication, not just waiting.</a:t>
            </a:r>
          </a:p>
        </p:txBody>
      </p:sp>
      <p:sp>
        <p:nvSpPr>
          <p:cNvPr id="15" name="TextBox 14"/>
          <p:cNvSpPr txBox="1"/>
          <p:nvPr/>
        </p:nvSpPr>
        <p:spPr>
          <a:xfrm>
            <a:off x="750000" y="1820000"/>
            <a:ext cx="7800000" cy="400000"/>
          </a:xfrm>
          <a:prstGeom prst="rect">
            <a:avLst/>
          </a:prstGeom>
          <a:noFill/>
        </p:spPr>
        <p:txBody>
          <a:bodyPr wrap="square">
            <a:spAutoFit/>
          </a:bodyPr>
          <a:lstStyle/>
          <a:p>
            <a:r>
              <a:rPr sz="900">
                <a:solidFill>
                  <a:srgbClr val="1A1A1A"/>
                </a:solidFill>
                <a:latin typeface="Calibri"/>
              </a:rPr>
              <a:t>If you are blocked, say so. Immediately. A blocker that sits in silence becomes your problem. A blocker that you communicate becomes a shared problem.</a:t>
            </a:r>
          </a:p>
        </p:txBody>
      </p:sp>
      <p:sp>
        <p:nvSpPr>
          <p:cNvPr id="16" name="TextBox 15"/>
          <p:cNvSpPr txBox="1"/>
          <p:nvPr/>
        </p:nvSpPr>
        <p:spPr>
          <a:xfrm>
            <a:off x="400000" y="2260000"/>
            <a:ext cx="350000" cy="280000"/>
          </a:xfrm>
          <a:prstGeom prst="rect">
            <a:avLst/>
          </a:prstGeom>
          <a:noFill/>
        </p:spPr>
        <p:txBody>
          <a:bodyPr wrap="square">
            <a:spAutoFit/>
          </a:bodyPr>
          <a:lstStyle/>
          <a:p>
            <a:pPr algn="ctr"/>
            <a:r>
              <a:rPr sz="1600" b="1">
                <a:solidFill>
                  <a:srgbClr val="1A9988"/>
                </a:solidFill>
                <a:latin typeface="Calibri"/>
              </a:rPr>
              <a:t>4</a:t>
            </a:r>
          </a:p>
        </p:txBody>
      </p:sp>
      <p:sp>
        <p:nvSpPr>
          <p:cNvPr id="17" name="TextBox 16"/>
          <p:cNvSpPr txBox="1"/>
          <p:nvPr/>
        </p:nvSpPr>
        <p:spPr>
          <a:xfrm>
            <a:off x="750000" y="2240000"/>
            <a:ext cx="7800000" cy="240000"/>
          </a:xfrm>
          <a:prstGeom prst="rect">
            <a:avLst/>
          </a:prstGeom>
          <a:noFill/>
        </p:spPr>
        <p:txBody>
          <a:bodyPr wrap="square">
            <a:spAutoFit/>
          </a:bodyPr>
          <a:lstStyle/>
          <a:p>
            <a:r>
              <a:rPr sz="1100" b="1">
                <a:solidFill>
                  <a:srgbClr val="232F3E"/>
                </a:solidFill>
                <a:latin typeface="Calibri"/>
              </a:rPr>
              <a:t>When two things have equal weight, ask your CCM.</a:t>
            </a:r>
          </a:p>
        </p:txBody>
      </p:sp>
      <p:sp>
        <p:nvSpPr>
          <p:cNvPr id="18" name="TextBox 17"/>
          <p:cNvSpPr txBox="1"/>
          <p:nvPr/>
        </p:nvSpPr>
        <p:spPr>
          <a:xfrm>
            <a:off x="750000" y="2500000"/>
            <a:ext cx="7800000" cy="400000"/>
          </a:xfrm>
          <a:prstGeom prst="rect">
            <a:avLst/>
          </a:prstGeom>
          <a:noFill/>
        </p:spPr>
        <p:txBody>
          <a:bodyPr wrap="square">
            <a:spAutoFit/>
          </a:bodyPr>
          <a:lstStyle/>
          <a:p>
            <a:r>
              <a:rPr sz="900">
                <a:solidFill>
                  <a:srgbClr val="1A1A1A"/>
                </a:solidFill>
                <a:latin typeface="Calibri"/>
              </a:rPr>
              <a:t>"I am planning to do A before B because of X. Does that work for you?" is a great Slack message. You are not expected to always know the right order.</a:t>
            </a:r>
          </a:p>
        </p:txBody>
      </p:sp>
      <p:sp>
        <p:nvSpPr>
          <p:cNvPr id="19" name="TextBox 18"/>
          <p:cNvSpPr txBox="1"/>
          <p:nvPr/>
        </p:nvSpPr>
        <p:spPr>
          <a:xfrm>
            <a:off x="400000" y="2940000"/>
            <a:ext cx="350000" cy="280000"/>
          </a:xfrm>
          <a:prstGeom prst="rect">
            <a:avLst/>
          </a:prstGeom>
          <a:noFill/>
        </p:spPr>
        <p:txBody>
          <a:bodyPr wrap="square">
            <a:spAutoFit/>
          </a:bodyPr>
          <a:lstStyle/>
          <a:p>
            <a:pPr algn="ctr"/>
            <a:r>
              <a:rPr sz="1600" b="1">
                <a:solidFill>
                  <a:srgbClr val="1A9988"/>
                </a:solidFill>
                <a:latin typeface="Calibri"/>
              </a:rPr>
              <a:t>5</a:t>
            </a:r>
          </a:p>
        </p:txBody>
      </p:sp>
      <p:sp>
        <p:nvSpPr>
          <p:cNvPr id="20" name="TextBox 19"/>
          <p:cNvSpPr txBox="1"/>
          <p:nvPr/>
        </p:nvSpPr>
        <p:spPr>
          <a:xfrm>
            <a:off x="750000" y="2920000"/>
            <a:ext cx="7800000" cy="240000"/>
          </a:xfrm>
          <a:prstGeom prst="rect">
            <a:avLst/>
          </a:prstGeom>
          <a:noFill/>
        </p:spPr>
        <p:txBody>
          <a:bodyPr wrap="square">
            <a:spAutoFit/>
          </a:bodyPr>
          <a:lstStyle/>
          <a:p>
            <a:r>
              <a:rPr sz="1100" b="1">
                <a:solidFill>
                  <a:srgbClr val="232F3E"/>
                </a:solidFill>
                <a:latin typeface="Calibri"/>
              </a:rPr>
              <a:t>Tracker and admin tasks are real work.</a:t>
            </a:r>
          </a:p>
        </p:txBody>
      </p:sp>
      <p:sp>
        <p:nvSpPr>
          <p:cNvPr id="21" name="TextBox 20"/>
          <p:cNvSpPr txBox="1"/>
          <p:nvPr/>
        </p:nvSpPr>
        <p:spPr>
          <a:xfrm>
            <a:off x="750000" y="3180000"/>
            <a:ext cx="7800000" cy="400000"/>
          </a:xfrm>
          <a:prstGeom prst="rect">
            <a:avLst/>
          </a:prstGeom>
          <a:noFill/>
        </p:spPr>
        <p:txBody>
          <a:bodyPr wrap="square">
            <a:spAutoFit/>
          </a:bodyPr>
          <a:lstStyle/>
          <a:p>
            <a:r>
              <a:rPr sz="900">
                <a:solidFill>
                  <a:srgbClr val="1A1A1A"/>
                </a:solidFill>
                <a:latin typeface="Calibri"/>
              </a:rPr>
              <a:t>Updating the weekly tracker, sending end-of-day status, keeping your queue clean. These are how your CCM and account team stay aligned. Schedule time for them.</a:t>
            </a:r>
          </a:p>
        </p:txBody>
      </p:sp>
      <p:sp>
        <p:nvSpPr>
          <p:cNvPr id="22" name="TextBox 21"/>
          <p:cNvSpPr txBox="1"/>
          <p:nvPr/>
        </p:nvSpPr>
        <p:spPr>
          <a:xfrm>
            <a:off x="400000" y="4500000"/>
            <a:ext cx="7800000" cy="300000"/>
          </a:xfrm>
          <a:prstGeom prst="rect">
            <a:avLst/>
          </a:prstGeom>
          <a:noFill/>
        </p:spPr>
        <p:txBody>
          <a:bodyPr wrap="square">
            <a:spAutoFit/>
          </a:bodyPr>
          <a:lstStyle/>
          <a:p>
            <a:r>
              <a:rPr sz="900" b="1">
                <a:solidFill>
                  <a:srgbClr val="1A9988"/>
                </a:solidFill>
                <a:latin typeface="Calibri"/>
              </a:rPr>
              <a:t>When in doubt: what has the most impact on the client right now? Start there.</a:t>
            </a:r>
          </a:p>
        </p:txBody>
      </p:sp>
      <p:sp>
        <p:nvSpPr>
          <p:cNvPr id="23" name="TextBox 22"/>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6</a:t>
            </a:r>
          </a:p>
        </p:txBody>
      </p:sp>
      <p:sp>
        <p:nvSpPr>
          <p:cNvPr id="24" name="TextBox 23"/>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821918" y="958862"/>
            <a:ext cx="481330" cy="452120"/>
          </a:xfrm>
          <a:prstGeom prst="rect">
            <a:avLst/>
          </a:prstGeom>
          <a:noFill/>
        </p:spPr>
        <p:txBody>
          <a:bodyPr wrap="square">
            <a:spAutoFit/>
          </a:bodyPr>
          <a:lstStyle/>
          <a:p>
            <a:r>
              <a:rPr sz="2800" b="1">
                <a:solidFill>
                  <a:srgbClr val="1A9988"/>
                </a:solidFill>
                <a:latin typeface="Calibri"/>
              </a:rPr>
              <a:t>03</a:t>
            </a:r>
          </a:p>
        </p:txBody>
      </p:sp>
      <p:sp>
        <p:nvSpPr>
          <p:cNvPr id="8" name="TextBox 7"/>
          <p:cNvSpPr txBox="1"/>
          <p:nvPr/>
        </p:nvSpPr>
        <p:spPr>
          <a:xfrm>
            <a:off x="821918" y="1600000"/>
            <a:ext cx="5500000" cy="1200000"/>
          </a:xfrm>
          <a:prstGeom prst="rect">
            <a:avLst/>
          </a:prstGeom>
          <a:noFill/>
        </p:spPr>
        <p:txBody>
          <a:bodyPr wrap="square">
            <a:spAutoFit/>
          </a:bodyPr>
          <a:lstStyle/>
          <a:p>
            <a:r>
              <a:rPr sz="4200">
                <a:solidFill>
                  <a:srgbClr val="1C2D42"/>
                </a:solidFill>
                <a:latin typeface="Calibri"/>
              </a:rPr>
              <a:t>Communication
Decision Tree</a:t>
            </a:r>
          </a:p>
        </p:txBody>
      </p:sp>
      <p:sp>
        <p:nvSpPr>
          <p:cNvPr id="9" name="TextBox 8"/>
          <p:cNvSpPr txBox="1"/>
          <p:nvPr/>
        </p:nvSpPr>
        <p:spPr>
          <a:xfrm>
            <a:off x="821918" y="3200000"/>
            <a:ext cx="6500000" cy="1000000"/>
          </a:xfrm>
          <a:prstGeom prst="rect">
            <a:avLst/>
          </a:prstGeom>
          <a:noFill/>
        </p:spPr>
        <p:txBody>
          <a:bodyPr wrap="square">
            <a:spAutoFit/>
          </a:bodyPr>
          <a:lstStyle/>
          <a:p>
            <a:r>
              <a:rPr sz="1600" b="1">
                <a:solidFill>
                  <a:srgbClr val="1A9988"/>
                </a:solidFill>
                <a:latin typeface="Calibri"/>
              </a:rPr>
              <a:t>Start here: What kind of situation is this?</a:t>
            </a:r>
          </a:p>
          <a:p>
            <a:pPr algn="l">
              <a:spcBef>
                <a:spcPts val="1200"/>
              </a:spcBef>
              <a:spcAft>
                <a:spcPts val="400"/>
              </a:spcAft>
            </a:pPr>
            <a:r>
              <a:rPr sz="1000" b="0" i="0">
                <a:solidFill>
                  <a:srgbClr val="1A1A1A"/>
                </a:solidFill>
                <a:latin typeface="Calibri"/>
              </a:rPr>
              <a:t>This is not a rulebook. It is a starting framework. Your CCM may have preferences that differ. Ask them on Day 1 of Stage 1. Then adapt this to your account.</a:t>
            </a:r>
          </a:p>
          <a:p>
            <a:pPr algn="l">
              <a:spcBef>
                <a:spcPts val="1600"/>
              </a:spcBef>
              <a:spcAft>
                <a:spcPts val="400"/>
              </a:spcAft>
            </a:pPr>
            <a:r>
              <a:rPr sz="900" b="1" i="0">
                <a:solidFill>
                  <a:srgbClr val="232F3E"/>
                </a:solidFill>
                <a:latin typeface="Calibri"/>
              </a:rPr>
              <a:t>The one rule behind all of this: Communicate early, communicate specifically, and bring a proposed solution whenever you can.</a:t>
            </a:r>
          </a:p>
        </p:txBody>
      </p:sp>
      <p:sp>
        <p:nvSpPr>
          <p:cNvPr id="10" name="TextBox 9"/>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7</a:t>
            </a:r>
          </a:p>
        </p:txBody>
      </p:sp>
      <p:sp>
        <p:nvSpPr>
          <p:cNvPr id="11" name="TextBox 10"/>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ounded Rectangle 6"/>
          <p:cNvSpPr/>
          <p:nvPr/>
        </p:nvSpPr>
        <p:spPr>
          <a:xfrm>
            <a:off x="250000" y="200000"/>
            <a:ext cx="4100000" cy="22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B5600"/>
                </a:solidFill>
                <a:latin typeface="Calibri"/>
              </a:rPr>
              <a:t>SOMETHING IS BLOCKED OR DELAYED</a:t>
            </a:r>
          </a:p>
          <a:p>
            <a:pPr>
              <a:spcBef>
                <a:spcPts val="600"/>
              </a:spcBef>
            </a:pPr>
            <a:r>
              <a:rPr sz="900" b="1">
                <a:solidFill>
                  <a:srgbClr val="232F3E"/>
                </a:solidFill>
                <a:latin typeface="Calibri"/>
              </a:rPr>
              <a:t>Is the SLA at risk in the next 2 hours?</a:t>
            </a:r>
          </a:p>
          <a:p>
            <a:pPr>
              <a:spcBef>
                <a:spcPts val="400"/>
              </a:spcBef>
            </a:pPr>
            <a:r>
              <a:rPr sz="800">
                <a:solidFill>
                  <a:srgbClr val="1A1A1A"/>
                </a:solidFill>
                <a:latin typeface="Calibri"/>
              </a:rPr>
              <a:t>Yes: Slack your CCM directly. Be specific: what is blocked, what you have already tried, what you need. If no response in 15 minutes, call.</a:t>
            </a:r>
          </a:p>
          <a:p>
            <a:pPr>
              <a:spcBef>
                <a:spcPts val="400"/>
              </a:spcBef>
            </a:pPr>
            <a:r>
              <a:rPr sz="800">
                <a:solidFill>
                  <a:srgbClr val="1A1A1A"/>
                </a:solidFill>
                <a:latin typeface="Calibri"/>
              </a:rPr>
              <a:t>No: Slack your CCM with a heads-up. Flag the blocker, your current status, and your plan. No urgency, just visibility.</a:t>
            </a:r>
          </a:p>
          <a:p>
            <a:pPr>
              <a:spcBef>
                <a:spcPts val="800"/>
              </a:spcBef>
            </a:pPr>
            <a:r>
              <a:rPr sz="800" b="1">
                <a:solidFill>
                  <a:srgbClr val="1A9988"/>
                </a:solidFill>
                <a:latin typeface="Calibri"/>
              </a:rPr>
              <a:t>Say: "Hey, [assignment] is blocked on [thing]. I have already [tried X]. SLA is [Y]. Do you want me to [option A] or [option B]?"</a:t>
            </a:r>
          </a:p>
        </p:txBody>
      </p:sp>
      <p:sp>
        <p:nvSpPr>
          <p:cNvPr id="8" name="Rounded Rectangle 7"/>
          <p:cNvSpPr/>
          <p:nvPr/>
        </p:nvSpPr>
        <p:spPr>
          <a:xfrm>
            <a:off x="250000" y="2550000"/>
            <a:ext cx="4100000" cy="22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CC0000"/>
                </a:solidFill>
                <a:latin typeface="Calibri"/>
              </a:rPr>
              <a:t>SOMETHING WENT WRONG</a:t>
            </a:r>
          </a:p>
          <a:p>
            <a:pPr>
              <a:spcBef>
                <a:spcPts val="600"/>
              </a:spcBef>
            </a:pPr>
            <a:r>
              <a:rPr sz="900" b="1">
                <a:solidFill>
                  <a:srgbClr val="232F3E"/>
                </a:solidFill>
                <a:latin typeface="Calibri"/>
              </a:rPr>
              <a:t>Is this client-facing or live?</a:t>
            </a:r>
          </a:p>
          <a:p>
            <a:pPr>
              <a:spcBef>
                <a:spcPts val="400"/>
              </a:spcBef>
            </a:pPr>
            <a:r>
              <a:rPr sz="800">
                <a:solidFill>
                  <a:srgbClr val="1A1A1A"/>
                </a:solidFill>
                <a:latin typeface="Calibri"/>
              </a:rPr>
              <a:t>Yes: Call your CCM immediately. Do not Slack first. Do not fix it first. Communicate first.</a:t>
            </a:r>
          </a:p>
          <a:p>
            <a:pPr>
              <a:spcBef>
                <a:spcPts val="400"/>
              </a:spcBef>
            </a:pPr>
            <a:r>
              <a:rPr sz="800">
                <a:solidFill>
                  <a:srgbClr val="1A1A1A"/>
                </a:solidFill>
                <a:latin typeface="Calibri"/>
              </a:rPr>
              <a:t>No: Slack your CCM with full context: what happened, when you noticed it, what the impact is, and what you are doing about it.</a:t>
            </a:r>
          </a:p>
          <a:p>
            <a:pPr>
              <a:spcBef>
                <a:spcPts val="800"/>
              </a:spcBef>
            </a:pPr>
            <a:r>
              <a:rPr sz="800" b="1">
                <a:solidFill>
                  <a:srgbClr val="1A9988"/>
                </a:solidFill>
                <a:latin typeface="Calibri"/>
              </a:rPr>
              <a:t>Say: "I need to flag something. [What happened], [when], [impact]. I am [doing X]. Can we connect?"</a:t>
            </a:r>
          </a:p>
        </p:txBody>
      </p:sp>
      <p:sp>
        <p:nvSpPr>
          <p:cNvPr id="9" name="Rounded Rectangle 8"/>
          <p:cNvSpPr/>
          <p:nvPr/>
        </p:nvSpPr>
        <p:spPr>
          <a:xfrm>
            <a:off x="4550000" y="200000"/>
            <a:ext cx="4100000" cy="135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A9988"/>
                </a:solidFill>
                <a:latin typeface="Calibri"/>
              </a:rPr>
              <a:t>YOU HAVE A STATUS UPDATE</a:t>
            </a:r>
          </a:p>
          <a:p>
            <a:pPr>
              <a:spcBef>
                <a:spcPts val="400"/>
              </a:spcBef>
            </a:pPr>
            <a:r>
              <a:rPr sz="800">
                <a:solidFill>
                  <a:srgbClr val="1A1A1A"/>
                </a:solidFill>
                <a:latin typeface="Calibri"/>
              </a:rPr>
              <a:t>Expected (daily sync, end-of-day): Save it for your sync. Do not Slack for every completed task.</a:t>
            </a:r>
          </a:p>
          <a:p>
            <a:pPr>
              <a:spcBef>
                <a:spcPts val="400"/>
              </a:spcBef>
            </a:pPr>
            <a:r>
              <a:rPr sz="800">
                <a:solidFill>
                  <a:srgbClr val="1A1A1A"/>
                </a:solidFill>
                <a:latin typeface="Calibri"/>
              </a:rPr>
              <a:t>Unexpected (finished early, hit a snag): Slack a brief update. One sentence is enough.</a:t>
            </a:r>
          </a:p>
        </p:txBody>
      </p:sp>
      <p:sp>
        <p:nvSpPr>
          <p:cNvPr id="10" name="Rounded Rectangle 9"/>
          <p:cNvSpPr/>
          <p:nvPr/>
        </p:nvSpPr>
        <p:spPr>
          <a:xfrm>
            <a:off x="4550000" y="1700000"/>
            <a:ext cx="4100000" cy="15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AA4C8"/>
                </a:solidFill>
                <a:latin typeface="Calibri"/>
              </a:rPr>
              <a:t>YOU HAVE A QUESTION</a:t>
            </a:r>
          </a:p>
          <a:p>
            <a:pPr>
              <a:spcBef>
                <a:spcPts val="400"/>
              </a:spcBef>
            </a:pPr>
            <a:r>
              <a:rPr sz="800" b="1">
                <a:solidFill>
                  <a:srgbClr val="232F3E"/>
                </a:solidFill>
                <a:latin typeface="Calibri"/>
              </a:rPr>
              <a:t>Have you tried to find the answer yourself for at least 15 minutes?</a:t>
            </a:r>
          </a:p>
          <a:p>
            <a:pPr>
              <a:spcBef>
                <a:spcPts val="400"/>
              </a:spcBef>
            </a:pPr>
            <a:r>
              <a:rPr sz="800">
                <a:solidFill>
                  <a:srgbClr val="1A1A1A"/>
                </a:solidFill>
                <a:latin typeface="Calibri"/>
              </a:rPr>
              <a:t>No: Try first. Check the SOP, your notes, the account history. The 15-Minute Rule exists for a reason.</a:t>
            </a:r>
          </a:p>
          <a:p>
            <a:pPr>
              <a:spcBef>
                <a:spcPts val="400"/>
              </a:spcBef>
            </a:pPr>
            <a:r>
              <a:rPr sz="800">
                <a:solidFill>
                  <a:srgbClr val="1A1A1A"/>
                </a:solidFill>
                <a:latin typeface="Calibri"/>
              </a:rPr>
              <a:t>Yes, still stuck: Slack your CCM. Show your work. Not just the question, but what you checked.</a:t>
            </a:r>
          </a:p>
          <a:p>
            <a:pPr>
              <a:spcBef>
                <a:spcPts val="600"/>
              </a:spcBef>
            </a:pPr>
            <a:r>
              <a:rPr sz="800" b="1">
                <a:solidFill>
                  <a:srgbClr val="1A9988"/>
                </a:solidFill>
                <a:latin typeface="Calibri"/>
              </a:rPr>
              <a:t>Say: "Quick question. I checked [SOP/notes/history] and could not find [X]. Is [your best guess] right, or should I [alternative]?"</a:t>
            </a:r>
          </a:p>
        </p:txBody>
      </p:sp>
      <p:sp>
        <p:nvSpPr>
          <p:cNvPr id="11" name="Rounded Rectangle 10"/>
          <p:cNvSpPr/>
          <p:nvPr/>
        </p:nvSpPr>
        <p:spPr>
          <a:xfrm>
            <a:off x="4550000" y="3350000"/>
            <a:ext cx="4100000" cy="1400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595959"/>
                </a:solidFill>
                <a:latin typeface="Calibri"/>
              </a:rPr>
              <a:t>YOU NEED A DECISION MADE</a:t>
            </a:r>
          </a:p>
          <a:p>
            <a:pPr>
              <a:spcBef>
                <a:spcPts val="400"/>
              </a:spcBef>
            </a:pPr>
            <a:r>
              <a:rPr sz="800">
                <a:solidFill>
                  <a:srgbClr val="1A1A1A"/>
                </a:solidFill>
                <a:latin typeface="Calibri"/>
              </a:rPr>
              <a:t>Time-sensitive (&lt; 2 hours): Slack with urgency flag. If no response in 15 minutes, call.</a:t>
            </a:r>
          </a:p>
          <a:p>
            <a:pPr>
              <a:spcBef>
                <a:spcPts val="400"/>
              </a:spcBef>
            </a:pPr>
            <a:r>
              <a:rPr sz="800">
                <a:solidFill>
                  <a:srgbClr val="1A1A1A"/>
                </a:solidFill>
                <a:latin typeface="Calibri"/>
              </a:rPr>
              <a:t>Not time-sensitive: Slack with context and a recommended option. Do not just present the problem. Bring a proposed solution.</a:t>
            </a:r>
          </a:p>
          <a:p>
            <a:pPr>
              <a:spcBef>
                <a:spcPts val="600"/>
              </a:spcBef>
            </a:pPr>
            <a:r>
              <a:rPr sz="800" b="1">
                <a:solidFill>
                  <a:srgbClr val="1A9988"/>
                </a:solidFill>
                <a:latin typeface="Calibri"/>
              </a:rPr>
              <a:t>Say: "Need your call on [situation]. My recommendation is [X] because [reason]. Let me know if you want to discuss."</a:t>
            </a:r>
          </a:p>
        </p:txBody>
      </p:sp>
      <p:sp>
        <p:nvSpPr>
          <p:cNvPr id="12" name="TextBox 11"/>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8</a:t>
            </a:r>
          </a:p>
        </p:txBody>
      </p:sp>
      <p:sp>
        <p:nvSpPr>
          <p:cNvPr id="13" name="TextBox 12"/>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590000" y="200000"/>
            <a:ext cx="4000000" cy="300000"/>
          </a:xfrm>
          <a:prstGeom prst="rect">
            <a:avLst/>
          </a:prstGeom>
          <a:noFill/>
        </p:spPr>
        <p:txBody>
          <a:bodyPr wrap="square">
            <a:spAutoFit/>
          </a:bodyPr>
          <a:lstStyle/>
          <a:p>
            <a:r>
              <a:rPr sz="1400" b="1">
                <a:solidFill>
                  <a:srgbClr val="232F3E"/>
                </a:solidFill>
                <a:latin typeface="Calibri"/>
              </a:rPr>
              <a:t>Channel Guide</a:t>
            </a:r>
          </a:p>
        </p:txBody>
      </p:sp>
      <p:sp>
        <p:nvSpPr>
          <p:cNvPr id="8" name="Rectangle 7"/>
          <p:cNvSpPr/>
          <p:nvPr/>
        </p:nvSpPr>
        <p:spPr>
          <a:xfrm>
            <a:off x="400000" y="650000"/>
            <a:ext cx="8200000" cy="350000"/>
          </a:xfrm>
          <a:prstGeom prst="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900" b="1">
                <a:solidFill>
                  <a:srgbClr val="FFFFFF"/>
                </a:solidFill>
                <a:latin typeface="Calibri"/>
              </a:rPr>
              <a:t>     Channel                                                  Use When</a:t>
            </a:r>
          </a:p>
        </p:txBody>
      </p:sp>
      <p:sp>
        <p:nvSpPr>
          <p:cNvPr id="9" name="Rectangle 8"/>
          <p:cNvSpPr/>
          <p:nvPr/>
        </p:nvSpPr>
        <p:spPr>
          <a:xfrm>
            <a:off x="400000" y="1030000"/>
            <a:ext cx="8200000" cy="4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000" y="1070000"/>
            <a:ext cx="2200000" cy="350000"/>
          </a:xfrm>
          <a:prstGeom prst="rect">
            <a:avLst/>
          </a:prstGeom>
          <a:noFill/>
        </p:spPr>
        <p:txBody>
          <a:bodyPr wrap="square">
            <a:spAutoFit/>
          </a:bodyPr>
          <a:lstStyle/>
          <a:p>
            <a:r>
              <a:rPr sz="900" b="1">
                <a:solidFill>
                  <a:srgbClr val="232F3E"/>
                </a:solidFill>
                <a:latin typeface="Calibri"/>
              </a:rPr>
              <a:t>Slack DM (CCM)</a:t>
            </a:r>
          </a:p>
        </p:txBody>
      </p:sp>
      <p:sp>
        <p:nvSpPr>
          <p:cNvPr id="11" name="TextBox 10"/>
          <p:cNvSpPr txBox="1"/>
          <p:nvPr/>
        </p:nvSpPr>
        <p:spPr>
          <a:xfrm>
            <a:off x="2800000" y="1070000"/>
            <a:ext cx="5600000" cy="350000"/>
          </a:xfrm>
          <a:prstGeom prst="rect">
            <a:avLst/>
          </a:prstGeom>
          <a:noFill/>
        </p:spPr>
        <p:txBody>
          <a:bodyPr wrap="square">
            <a:spAutoFit/>
          </a:bodyPr>
          <a:lstStyle/>
          <a:p>
            <a:r>
              <a:rPr sz="900">
                <a:solidFill>
                  <a:srgbClr val="1A1A1A"/>
                </a:solidFill>
                <a:latin typeface="Calibri"/>
              </a:rPr>
              <a:t>Most things. Default to this.</a:t>
            </a:r>
          </a:p>
        </p:txBody>
      </p:sp>
      <p:sp>
        <p:nvSpPr>
          <p:cNvPr id="12" name="Rectangle 11"/>
          <p:cNvSpPr/>
          <p:nvPr/>
        </p:nvSpPr>
        <p:spPr>
          <a:xfrm>
            <a:off x="400000" y="1460000"/>
            <a:ext cx="8200000" cy="4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000" y="1500000"/>
            <a:ext cx="2200000" cy="350000"/>
          </a:xfrm>
          <a:prstGeom prst="rect">
            <a:avLst/>
          </a:prstGeom>
          <a:noFill/>
        </p:spPr>
        <p:txBody>
          <a:bodyPr wrap="square">
            <a:spAutoFit/>
          </a:bodyPr>
          <a:lstStyle/>
          <a:p>
            <a:r>
              <a:rPr sz="900" b="1">
                <a:solidFill>
                  <a:srgbClr val="232F3E"/>
                </a:solidFill>
                <a:latin typeface="Calibri"/>
              </a:rPr>
              <a:t>Slack (team channel)</a:t>
            </a:r>
          </a:p>
        </p:txBody>
      </p:sp>
      <p:sp>
        <p:nvSpPr>
          <p:cNvPr id="14" name="TextBox 13"/>
          <p:cNvSpPr txBox="1"/>
          <p:nvPr/>
        </p:nvSpPr>
        <p:spPr>
          <a:xfrm>
            <a:off x="2800000" y="1500000"/>
            <a:ext cx="5600000" cy="350000"/>
          </a:xfrm>
          <a:prstGeom prst="rect">
            <a:avLst/>
          </a:prstGeom>
          <a:noFill/>
        </p:spPr>
        <p:txBody>
          <a:bodyPr wrap="square">
            <a:spAutoFit/>
          </a:bodyPr>
          <a:lstStyle/>
          <a:p>
            <a:r>
              <a:rPr sz="900">
                <a:solidFill>
                  <a:srgbClr val="1A1A1A"/>
                </a:solidFill>
                <a:latin typeface="Calibri"/>
              </a:rPr>
              <a:t>Status updates the whole team needs to see. Questions that benefit from team input.</a:t>
            </a:r>
          </a:p>
        </p:txBody>
      </p:sp>
      <p:sp>
        <p:nvSpPr>
          <p:cNvPr id="15" name="Rectangle 14"/>
          <p:cNvSpPr/>
          <p:nvPr/>
        </p:nvSpPr>
        <p:spPr>
          <a:xfrm>
            <a:off x="400000" y="1890000"/>
            <a:ext cx="8200000" cy="4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000" y="1930000"/>
            <a:ext cx="2200000" cy="350000"/>
          </a:xfrm>
          <a:prstGeom prst="rect">
            <a:avLst/>
          </a:prstGeom>
          <a:noFill/>
        </p:spPr>
        <p:txBody>
          <a:bodyPr wrap="square">
            <a:spAutoFit/>
          </a:bodyPr>
          <a:lstStyle/>
          <a:p>
            <a:r>
              <a:rPr sz="900" b="1">
                <a:solidFill>
                  <a:srgbClr val="232F3E"/>
                </a:solidFill>
                <a:latin typeface="Calibri"/>
              </a:rPr>
              <a:t>Phone / Call</a:t>
            </a:r>
          </a:p>
        </p:txBody>
      </p:sp>
      <p:sp>
        <p:nvSpPr>
          <p:cNvPr id="17" name="TextBox 16"/>
          <p:cNvSpPr txBox="1"/>
          <p:nvPr/>
        </p:nvSpPr>
        <p:spPr>
          <a:xfrm>
            <a:off x="2800000" y="1930000"/>
            <a:ext cx="5600000" cy="350000"/>
          </a:xfrm>
          <a:prstGeom prst="rect">
            <a:avLst/>
          </a:prstGeom>
          <a:noFill/>
        </p:spPr>
        <p:txBody>
          <a:bodyPr wrap="square">
            <a:spAutoFit/>
          </a:bodyPr>
          <a:lstStyle/>
          <a:p>
            <a:r>
              <a:rPr sz="900">
                <a:solidFill>
                  <a:srgbClr val="1A1A1A"/>
                </a:solidFill>
                <a:latin typeface="Calibri"/>
              </a:rPr>
              <a:t>Live campaign errors. Urgent blockers with &lt; 15 min response window. Anything where tone matters.</a:t>
            </a:r>
          </a:p>
        </p:txBody>
      </p:sp>
      <p:sp>
        <p:nvSpPr>
          <p:cNvPr id="18" name="Rectangle 17"/>
          <p:cNvSpPr/>
          <p:nvPr/>
        </p:nvSpPr>
        <p:spPr>
          <a:xfrm>
            <a:off x="400000" y="2320000"/>
            <a:ext cx="8200000" cy="4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2360000"/>
            <a:ext cx="2200000" cy="350000"/>
          </a:xfrm>
          <a:prstGeom prst="rect">
            <a:avLst/>
          </a:prstGeom>
          <a:noFill/>
        </p:spPr>
        <p:txBody>
          <a:bodyPr wrap="square">
            <a:spAutoFit/>
          </a:bodyPr>
          <a:lstStyle/>
          <a:p>
            <a:r>
              <a:rPr sz="900" b="1">
                <a:solidFill>
                  <a:srgbClr val="232F3E"/>
                </a:solidFill>
                <a:latin typeface="Calibri"/>
              </a:rPr>
              <a:t>Daily Sync</a:t>
            </a:r>
          </a:p>
        </p:txBody>
      </p:sp>
      <p:sp>
        <p:nvSpPr>
          <p:cNvPr id="20" name="TextBox 19"/>
          <p:cNvSpPr txBox="1"/>
          <p:nvPr/>
        </p:nvSpPr>
        <p:spPr>
          <a:xfrm>
            <a:off x="2800000" y="2360000"/>
            <a:ext cx="5600000" cy="350000"/>
          </a:xfrm>
          <a:prstGeom prst="rect">
            <a:avLst/>
          </a:prstGeom>
          <a:noFill/>
        </p:spPr>
        <p:txBody>
          <a:bodyPr wrap="square">
            <a:spAutoFit/>
          </a:bodyPr>
          <a:lstStyle/>
          <a:p>
            <a:r>
              <a:rPr sz="900">
                <a:solidFill>
                  <a:srgbClr val="1A1A1A"/>
                </a:solidFill>
                <a:latin typeface="Calibri"/>
              </a:rPr>
              <a:t>Routine updates, non-urgent questions, pattern-level issues. Not one-off blockers.</a:t>
            </a:r>
          </a:p>
        </p:txBody>
      </p:sp>
      <p:sp>
        <p:nvSpPr>
          <p:cNvPr id="21" name="Rectangle 20"/>
          <p:cNvSpPr/>
          <p:nvPr/>
        </p:nvSpPr>
        <p:spPr>
          <a:xfrm>
            <a:off x="400000" y="2750000"/>
            <a:ext cx="8200000" cy="420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2790000"/>
            <a:ext cx="2200000" cy="350000"/>
          </a:xfrm>
          <a:prstGeom prst="rect">
            <a:avLst/>
          </a:prstGeom>
          <a:noFill/>
        </p:spPr>
        <p:txBody>
          <a:bodyPr wrap="square">
            <a:spAutoFit/>
          </a:bodyPr>
          <a:lstStyle/>
          <a:p>
            <a:r>
              <a:rPr sz="900" b="1">
                <a:solidFill>
                  <a:srgbClr val="232F3E"/>
                </a:solidFill>
                <a:latin typeface="Calibri"/>
              </a:rPr>
              <a:t>Email</a:t>
            </a:r>
          </a:p>
        </p:txBody>
      </p:sp>
      <p:sp>
        <p:nvSpPr>
          <p:cNvPr id="23" name="TextBox 22"/>
          <p:cNvSpPr txBox="1"/>
          <p:nvPr/>
        </p:nvSpPr>
        <p:spPr>
          <a:xfrm>
            <a:off x="2800000" y="2790000"/>
            <a:ext cx="5600000" cy="350000"/>
          </a:xfrm>
          <a:prstGeom prst="rect">
            <a:avLst/>
          </a:prstGeom>
          <a:noFill/>
        </p:spPr>
        <p:txBody>
          <a:bodyPr wrap="square">
            <a:spAutoFit/>
          </a:bodyPr>
          <a:lstStyle/>
          <a:p>
            <a:r>
              <a:rPr sz="900">
                <a:solidFill>
                  <a:srgbClr val="1A1A1A"/>
                </a:solidFill>
                <a:latin typeface="Calibri"/>
              </a:rPr>
              <a:t>Client-facing communication only. Not internal.</a:t>
            </a:r>
          </a:p>
        </p:txBody>
      </p:sp>
      <p:sp>
        <p:nvSpPr>
          <p:cNvPr id="24" name="TextBox 23"/>
          <p:cNvSpPr txBox="1"/>
          <p:nvPr/>
        </p:nvSpPr>
        <p:spPr>
          <a:xfrm>
            <a:off x="400000" y="4300000"/>
            <a:ext cx="7800000" cy="400000"/>
          </a:xfrm>
          <a:prstGeom prst="rect">
            <a:avLst/>
          </a:prstGeom>
          <a:noFill/>
        </p:spPr>
        <p:txBody>
          <a:bodyPr wrap="square">
            <a:spAutoFit/>
          </a:bodyPr>
          <a:lstStyle/>
          <a:p>
            <a:r>
              <a:rPr sz="900" b="1">
                <a:solidFill>
                  <a:srgbClr val="1A9988"/>
                </a:solidFill>
                <a:latin typeface="Calibri"/>
              </a:rPr>
              <a:t>Adapt this to your account. Ask your CCM on Day 1: "What is your communication preference?" Then update this card.</a:t>
            </a:r>
          </a:p>
        </p:txBody>
      </p:sp>
      <p:sp>
        <p:nvSpPr>
          <p:cNvPr id="25" name="TextBox 24"/>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9</a:t>
            </a:r>
          </a:p>
        </p:txBody>
      </p:sp>
      <p:sp>
        <p:nvSpPr>
          <p:cNvPr id="26" name="TextBox 25"/>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821918" y="958862"/>
            <a:ext cx="481330" cy="452120"/>
          </a:xfrm>
          <a:prstGeom prst="rect">
            <a:avLst/>
          </a:prstGeom>
          <a:noFill/>
        </p:spPr>
        <p:txBody>
          <a:bodyPr wrap="square">
            <a:spAutoFit/>
          </a:bodyPr>
          <a:lstStyle/>
          <a:p>
            <a:r>
              <a:rPr sz="2800" b="1">
                <a:solidFill>
                  <a:srgbClr val="1A9988"/>
                </a:solidFill>
                <a:latin typeface="Calibri"/>
              </a:rPr>
              <a:t>04</a:t>
            </a:r>
          </a:p>
        </p:txBody>
      </p:sp>
      <p:sp>
        <p:nvSpPr>
          <p:cNvPr id="8" name="TextBox 7"/>
          <p:cNvSpPr txBox="1"/>
          <p:nvPr/>
        </p:nvSpPr>
        <p:spPr>
          <a:xfrm>
            <a:off x="821918" y="1600000"/>
            <a:ext cx="5000000" cy="1200000"/>
          </a:xfrm>
          <a:prstGeom prst="rect">
            <a:avLst/>
          </a:prstGeom>
          <a:noFill/>
        </p:spPr>
        <p:txBody>
          <a:bodyPr wrap="square">
            <a:spAutoFit/>
          </a:bodyPr>
          <a:lstStyle/>
          <a:p>
            <a:r>
              <a:rPr sz="4200">
                <a:solidFill>
                  <a:srgbClr val="1C2D42"/>
                </a:solidFill>
                <a:latin typeface="Calibri"/>
              </a:rPr>
              <a:t>Observation Guide
Day 1</a:t>
            </a:r>
          </a:p>
        </p:txBody>
      </p:sp>
      <p:sp>
        <p:nvSpPr>
          <p:cNvPr id="9" name="TextBox 8"/>
          <p:cNvSpPr txBox="1"/>
          <p:nvPr/>
        </p:nvSpPr>
        <p:spPr>
          <a:xfrm>
            <a:off x="821918" y="3200000"/>
            <a:ext cx="6000000" cy="900000"/>
          </a:xfrm>
          <a:prstGeom prst="rect">
            <a:avLst/>
          </a:prstGeom>
          <a:noFill/>
        </p:spPr>
        <p:txBody>
          <a:bodyPr wrap="square">
            <a:spAutoFit/>
          </a:bodyPr>
          <a:lstStyle/>
          <a:p>
            <a:r>
              <a:rPr sz="1600" b="1">
                <a:solidFill>
                  <a:srgbClr val="1A9988"/>
                </a:solidFill>
                <a:latin typeface="Calibri"/>
              </a:rPr>
              <a:t>What Is an Account Team?</a:t>
            </a:r>
          </a:p>
          <a:p>
            <a:pPr algn="l">
              <a:spcBef>
                <a:spcPts val="1200"/>
              </a:spcBef>
              <a:spcAft>
                <a:spcPts val="400"/>
              </a:spcAft>
            </a:pPr>
            <a:r>
              <a:rPr sz="1000" b="0" i="0">
                <a:solidFill>
                  <a:srgbClr val="1A1A1A"/>
                </a:solidFill>
                <a:latin typeface="Calibri"/>
              </a:rPr>
              <a:t>Your role right now: Observer. You are not participating. You are watching and listening. Your job is to notice what you do not yet have language for.</a:t>
            </a:r>
          </a:p>
          <a:p>
            <a:pPr algn="l">
              <a:spcBef>
                <a:spcPts val="800"/>
              </a:spcBef>
              <a:spcAft>
                <a:spcPts val="400"/>
              </a:spcAft>
            </a:pPr>
            <a:r>
              <a:rPr sz="1000" b="0" i="0">
                <a:solidFill>
                  <a:srgbClr val="1A1A1A"/>
                </a:solidFill>
                <a:latin typeface="Calibri"/>
              </a:rPr>
              <a:t>You do not need to capture everything. Capture what surprises you.</a:t>
            </a:r>
          </a:p>
        </p:txBody>
      </p:sp>
      <p:sp>
        <p:nvSpPr>
          <p:cNvPr id="10" name="TextBox 9"/>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10</a:t>
            </a:r>
          </a:p>
        </p:txBody>
      </p:sp>
      <p:sp>
        <p:nvSpPr>
          <p:cNvPr id="11" name="TextBox 10"/>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ectangle 6"/>
          <p:cNvSpPr/>
          <p:nvPr/>
        </p:nvSpPr>
        <p:spPr>
          <a:xfrm>
            <a:off x="250000" y="150000"/>
            <a:ext cx="50000" cy="2100000"/>
          </a:xfrm>
          <a:prstGeom prst="rect">
            <a:avLst/>
          </a:prstGeom>
          <a:solidFill>
            <a:srgbClr val="1A9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0000" y="170000"/>
            <a:ext cx="3900000" cy="250000"/>
          </a:xfrm>
          <a:prstGeom prst="rect">
            <a:avLst/>
          </a:prstGeom>
          <a:noFill/>
        </p:spPr>
        <p:txBody>
          <a:bodyPr wrap="square">
            <a:spAutoFit/>
          </a:bodyPr>
          <a:lstStyle/>
          <a:p>
            <a:r>
              <a:rPr sz="1100" b="1">
                <a:solidFill>
                  <a:srgbClr val="232F3E"/>
                </a:solidFill>
                <a:latin typeface="Calibri"/>
              </a:rPr>
              <a:t>Roles and Relationships</a:t>
            </a:r>
          </a:p>
        </p:txBody>
      </p:sp>
      <p:sp>
        <p:nvSpPr>
          <p:cNvPr id="9" name="TextBox 8"/>
          <p:cNvSpPr txBox="1"/>
          <p:nvPr/>
        </p:nvSpPr>
        <p:spPr>
          <a:xfrm>
            <a:off x="350000" y="45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Who is talking to whom, and why?</a:t>
            </a:r>
          </a:p>
          <a:p>
            <a:pPr>
              <a:spcBef>
                <a:spcPts val="400"/>
              </a:spcBef>
              <a:spcAft>
                <a:spcPts val="200"/>
              </a:spcAft>
            </a:pPr>
            <a:r>
              <a:rPr sz="800">
                <a:solidFill>
                  <a:srgbClr val="1A1A1A"/>
                </a:solidFill>
                <a:latin typeface="Calibri"/>
              </a:rPr>
              <a:t>What does the CCM seem responsible for that you did not expect?</a:t>
            </a:r>
          </a:p>
          <a:p>
            <a:pPr>
              <a:spcBef>
                <a:spcPts val="400"/>
              </a:spcBef>
              <a:spcAft>
                <a:spcPts val="200"/>
              </a:spcAft>
            </a:pPr>
            <a:r>
              <a:rPr sz="800">
                <a:solidFill>
                  <a:srgbClr val="1A1A1A"/>
                </a:solidFill>
                <a:latin typeface="Calibri"/>
              </a:rPr>
              <a:t>Where does the CM fit in, and where do they not fit in yet?</a:t>
            </a:r>
          </a:p>
        </p:txBody>
      </p:sp>
      <p:sp>
        <p:nvSpPr>
          <p:cNvPr id="10" name="TextBox 9"/>
          <p:cNvSpPr txBox="1"/>
          <p:nvPr/>
        </p:nvSpPr>
        <p:spPr>
          <a:xfrm>
            <a:off x="350000" y="175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11" name="Rectangle 10"/>
          <p:cNvSpPr/>
          <p:nvPr/>
        </p:nvSpPr>
        <p:spPr>
          <a:xfrm>
            <a:off x="4600000" y="150000"/>
            <a:ext cx="50000" cy="2100000"/>
          </a:xfrm>
          <a:prstGeom prst="rect">
            <a:avLst/>
          </a:prstGeom>
          <a:solidFill>
            <a:srgbClr val="EB5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0000" y="170000"/>
            <a:ext cx="3900000" cy="250000"/>
          </a:xfrm>
          <a:prstGeom prst="rect">
            <a:avLst/>
          </a:prstGeom>
          <a:noFill/>
        </p:spPr>
        <p:txBody>
          <a:bodyPr wrap="square">
            <a:spAutoFit/>
          </a:bodyPr>
          <a:lstStyle/>
          <a:p>
            <a:r>
              <a:rPr sz="1100" b="1">
                <a:solidFill>
                  <a:srgbClr val="232F3E"/>
                </a:solidFill>
                <a:latin typeface="Calibri"/>
              </a:rPr>
              <a:t>Communication Patterns</a:t>
            </a:r>
          </a:p>
        </p:txBody>
      </p:sp>
      <p:sp>
        <p:nvSpPr>
          <p:cNvPr id="13" name="TextBox 12"/>
          <p:cNvSpPr txBox="1"/>
          <p:nvPr/>
        </p:nvSpPr>
        <p:spPr>
          <a:xfrm>
            <a:off x="4700000" y="45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How often are they communicating with each other? With the client?</a:t>
            </a:r>
          </a:p>
          <a:p>
            <a:pPr>
              <a:spcBef>
                <a:spcPts val="400"/>
              </a:spcBef>
              <a:spcAft>
                <a:spcPts val="200"/>
              </a:spcAft>
            </a:pPr>
            <a:r>
              <a:rPr sz="800">
                <a:solidFill>
                  <a:srgbClr val="1A1A1A"/>
                </a:solidFill>
                <a:latin typeface="Calibri"/>
              </a:rPr>
              <a:t>What kinds of things get a Slack message vs. a call vs. a meeting?</a:t>
            </a:r>
          </a:p>
          <a:p>
            <a:pPr>
              <a:spcBef>
                <a:spcPts val="400"/>
              </a:spcBef>
              <a:spcAft>
                <a:spcPts val="200"/>
              </a:spcAft>
            </a:pPr>
            <a:r>
              <a:rPr sz="800">
                <a:solidFill>
                  <a:srgbClr val="1A1A1A"/>
                </a:solidFill>
                <a:latin typeface="Calibri"/>
              </a:rPr>
              <a:t>What does proactive communication actually look like in practice?</a:t>
            </a:r>
          </a:p>
        </p:txBody>
      </p:sp>
      <p:sp>
        <p:nvSpPr>
          <p:cNvPr id="14" name="TextBox 13"/>
          <p:cNvSpPr txBox="1"/>
          <p:nvPr/>
        </p:nvSpPr>
        <p:spPr>
          <a:xfrm>
            <a:off x="4700000" y="175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15" name="Rectangle 14"/>
          <p:cNvSpPr/>
          <p:nvPr/>
        </p:nvSpPr>
        <p:spPr>
          <a:xfrm>
            <a:off x="250000" y="2500000"/>
            <a:ext cx="50000" cy="2100000"/>
          </a:xfrm>
          <a:prstGeom prst="rect">
            <a:avLst/>
          </a:prstGeom>
          <a:solidFill>
            <a:srgbClr val="6AA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000" y="2520000"/>
            <a:ext cx="3900000" cy="250000"/>
          </a:xfrm>
          <a:prstGeom prst="rect">
            <a:avLst/>
          </a:prstGeom>
          <a:noFill/>
        </p:spPr>
        <p:txBody>
          <a:bodyPr wrap="square">
            <a:spAutoFit/>
          </a:bodyPr>
          <a:lstStyle/>
          <a:p>
            <a:r>
              <a:rPr sz="1100" b="1">
                <a:solidFill>
                  <a:srgbClr val="232F3E"/>
                </a:solidFill>
                <a:latin typeface="Calibri"/>
              </a:rPr>
              <a:t>Decision-Making</a:t>
            </a:r>
          </a:p>
        </p:txBody>
      </p:sp>
      <p:sp>
        <p:nvSpPr>
          <p:cNvPr id="17" name="TextBox 16"/>
          <p:cNvSpPr txBox="1"/>
          <p:nvPr/>
        </p:nvSpPr>
        <p:spPr>
          <a:xfrm>
            <a:off x="350000" y="280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Who makes decisions, and how?</a:t>
            </a:r>
          </a:p>
          <a:p>
            <a:pPr>
              <a:spcBef>
                <a:spcPts val="400"/>
              </a:spcBef>
              <a:spcAft>
                <a:spcPts val="200"/>
              </a:spcAft>
            </a:pPr>
            <a:r>
              <a:rPr sz="800">
                <a:solidFill>
                  <a:srgbClr val="1A1A1A"/>
                </a:solidFill>
                <a:latin typeface="Calibri"/>
              </a:rPr>
              <a:t>What happens when something is unclear or blocked?</a:t>
            </a:r>
          </a:p>
          <a:p>
            <a:pPr>
              <a:spcBef>
                <a:spcPts val="400"/>
              </a:spcBef>
              <a:spcAft>
                <a:spcPts val="200"/>
              </a:spcAft>
            </a:pPr>
            <a:r>
              <a:rPr sz="800">
                <a:solidFill>
                  <a:srgbClr val="1A1A1A"/>
                </a:solidFill>
                <a:latin typeface="Calibri"/>
              </a:rPr>
              <a:t>When does someone escalate, and to whom?</a:t>
            </a:r>
          </a:p>
        </p:txBody>
      </p:sp>
      <p:sp>
        <p:nvSpPr>
          <p:cNvPr id="18" name="TextBox 17"/>
          <p:cNvSpPr txBox="1"/>
          <p:nvPr/>
        </p:nvSpPr>
        <p:spPr>
          <a:xfrm>
            <a:off x="350000" y="410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19" name="Rectangle 18"/>
          <p:cNvSpPr/>
          <p:nvPr/>
        </p:nvSpPr>
        <p:spPr>
          <a:xfrm>
            <a:off x="4600000" y="2500000"/>
            <a:ext cx="50000" cy="21000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0000" y="2520000"/>
            <a:ext cx="3900000" cy="250000"/>
          </a:xfrm>
          <a:prstGeom prst="rect">
            <a:avLst/>
          </a:prstGeom>
          <a:noFill/>
        </p:spPr>
        <p:txBody>
          <a:bodyPr wrap="square">
            <a:spAutoFit/>
          </a:bodyPr>
          <a:lstStyle/>
          <a:p>
            <a:r>
              <a:rPr sz="1100" b="1">
                <a:solidFill>
                  <a:srgbClr val="232F3E"/>
                </a:solidFill>
                <a:latin typeface="Calibri"/>
              </a:rPr>
              <a:t>Client Context</a:t>
            </a:r>
          </a:p>
        </p:txBody>
      </p:sp>
      <p:sp>
        <p:nvSpPr>
          <p:cNvPr id="21" name="TextBox 20"/>
          <p:cNvSpPr txBox="1"/>
          <p:nvPr/>
        </p:nvSpPr>
        <p:spPr>
          <a:xfrm>
            <a:off x="4700000" y="280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How often does the client come up in conversation?</a:t>
            </a:r>
          </a:p>
          <a:p>
            <a:pPr>
              <a:spcBef>
                <a:spcPts val="400"/>
              </a:spcBef>
              <a:spcAft>
                <a:spcPts val="200"/>
              </a:spcAft>
            </a:pPr>
            <a:r>
              <a:rPr sz="800">
                <a:solidFill>
                  <a:srgbClr val="1A1A1A"/>
                </a:solidFill>
                <a:latin typeface="Calibri"/>
              </a:rPr>
              <a:t>What does the team seem to know about the client that is not written anywhere?</a:t>
            </a:r>
          </a:p>
          <a:p>
            <a:pPr>
              <a:spcBef>
                <a:spcPts val="400"/>
              </a:spcBef>
              <a:spcAft>
                <a:spcPts val="200"/>
              </a:spcAft>
            </a:pPr>
            <a:r>
              <a:rPr sz="800">
                <a:solidFill>
                  <a:srgbClr val="1A1A1A"/>
                </a:solidFill>
                <a:latin typeface="Calibri"/>
              </a:rPr>
              <a:t>What would you not know about this client if you were starting today?</a:t>
            </a:r>
          </a:p>
        </p:txBody>
      </p:sp>
      <p:sp>
        <p:nvSpPr>
          <p:cNvPr id="22" name="TextBox 21"/>
          <p:cNvSpPr txBox="1"/>
          <p:nvPr/>
        </p:nvSpPr>
        <p:spPr>
          <a:xfrm>
            <a:off x="4700000" y="410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23" name="TextBox 22"/>
          <p:cNvSpPr txBox="1"/>
          <p:nvPr/>
        </p:nvSpPr>
        <p:spPr>
          <a:xfrm>
            <a:off x="250000" y="4750000"/>
            <a:ext cx="7800000" cy="300000"/>
          </a:xfrm>
          <a:prstGeom prst="rect">
            <a:avLst/>
          </a:prstGeom>
          <a:noFill/>
        </p:spPr>
        <p:txBody>
          <a:bodyPr wrap="square">
            <a:spAutoFit/>
          </a:bodyPr>
          <a:lstStyle/>
          <a:p>
            <a:r>
              <a:rPr sz="800">
                <a:solidFill>
                  <a:srgbClr val="1A9988"/>
                </a:solidFill>
                <a:latin typeface="Calibri"/>
              </a:rPr>
              <a:t>After the debrief:  One thing that surprised me  /  One question I want to ask  /  One thing I want to understand before Stage 1</a:t>
            </a:r>
          </a:p>
        </p:txBody>
      </p:sp>
      <p:sp>
        <p:nvSpPr>
          <p:cNvPr id="24" name="TextBox 23"/>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11</a:t>
            </a:r>
          </a:p>
        </p:txBody>
      </p:sp>
      <p:sp>
        <p:nvSpPr>
          <p:cNvPr id="25" name="TextBox 24"/>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821918" y="958862"/>
            <a:ext cx="481330" cy="452120"/>
          </a:xfrm>
          <a:prstGeom prst="rect">
            <a:avLst/>
          </a:prstGeom>
          <a:noFill/>
        </p:spPr>
        <p:txBody>
          <a:bodyPr wrap="square">
            <a:spAutoFit/>
          </a:bodyPr>
          <a:lstStyle/>
          <a:p>
            <a:r>
              <a:rPr sz="2800" b="1">
                <a:solidFill>
                  <a:srgbClr val="1A9988"/>
                </a:solidFill>
                <a:latin typeface="Calibri"/>
              </a:rPr>
              <a:t>05</a:t>
            </a:r>
          </a:p>
        </p:txBody>
      </p:sp>
      <p:sp>
        <p:nvSpPr>
          <p:cNvPr id="8" name="TextBox 7"/>
          <p:cNvSpPr txBox="1"/>
          <p:nvPr/>
        </p:nvSpPr>
        <p:spPr>
          <a:xfrm>
            <a:off x="821918" y="1600000"/>
            <a:ext cx="5000000" cy="1200000"/>
          </a:xfrm>
          <a:prstGeom prst="rect">
            <a:avLst/>
          </a:prstGeom>
          <a:noFill/>
        </p:spPr>
        <p:txBody>
          <a:bodyPr wrap="square">
            <a:spAutoFit/>
          </a:bodyPr>
          <a:lstStyle/>
          <a:p>
            <a:r>
              <a:rPr sz="4200">
                <a:solidFill>
                  <a:srgbClr val="1C2D42"/>
                </a:solidFill>
                <a:latin typeface="Calibri"/>
              </a:rPr>
              <a:t>Observation Guide
Day 2</a:t>
            </a:r>
          </a:p>
        </p:txBody>
      </p:sp>
      <p:sp>
        <p:nvSpPr>
          <p:cNvPr id="9" name="TextBox 8"/>
          <p:cNvSpPr txBox="1"/>
          <p:nvPr/>
        </p:nvSpPr>
        <p:spPr>
          <a:xfrm>
            <a:off x="821918" y="3200000"/>
            <a:ext cx="6000000" cy="900000"/>
          </a:xfrm>
          <a:prstGeom prst="rect">
            <a:avLst/>
          </a:prstGeom>
          <a:noFill/>
        </p:spPr>
        <p:txBody>
          <a:bodyPr wrap="square">
            <a:spAutoFit/>
          </a:bodyPr>
          <a:lstStyle/>
          <a:p>
            <a:r>
              <a:rPr sz="1600" b="1">
                <a:solidFill>
                  <a:srgbClr val="1A9988"/>
                </a:solidFill>
                <a:latin typeface="Calibri"/>
              </a:rPr>
              <a:t>Partnership Walkthrough</a:t>
            </a:r>
          </a:p>
          <a:p>
            <a:pPr algn="l">
              <a:spcBef>
                <a:spcPts val="1200"/>
              </a:spcBef>
              <a:spcAft>
                <a:spcPts val="400"/>
              </a:spcAft>
            </a:pPr>
            <a:r>
              <a:rPr sz="1000" b="0" i="0">
                <a:solidFill>
                  <a:srgbClr val="1A1A1A"/>
                </a:solidFill>
                <a:latin typeface="Calibri"/>
              </a:rPr>
              <a:t>The focus question for this session: What does accountability look like here, and how is it different from what you have experienced before?</a:t>
            </a:r>
          </a:p>
        </p:txBody>
      </p:sp>
      <p:sp>
        <p:nvSpPr>
          <p:cNvPr id="10" name="TextBox 9"/>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12</a:t>
            </a:r>
          </a:p>
        </p:txBody>
      </p:sp>
      <p:sp>
        <p:nvSpPr>
          <p:cNvPr id="11" name="TextBox 10"/>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ectangle 6"/>
          <p:cNvSpPr/>
          <p:nvPr/>
        </p:nvSpPr>
        <p:spPr>
          <a:xfrm>
            <a:off x="250000" y="150000"/>
            <a:ext cx="50000" cy="2100000"/>
          </a:xfrm>
          <a:prstGeom prst="rect">
            <a:avLst/>
          </a:prstGeom>
          <a:solidFill>
            <a:srgbClr val="1A9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0000" y="170000"/>
            <a:ext cx="3900000" cy="250000"/>
          </a:xfrm>
          <a:prstGeom prst="rect">
            <a:avLst/>
          </a:prstGeom>
          <a:noFill/>
        </p:spPr>
        <p:txBody>
          <a:bodyPr wrap="square">
            <a:spAutoFit/>
          </a:bodyPr>
          <a:lstStyle/>
          <a:p>
            <a:r>
              <a:rPr sz="1100" b="1">
                <a:solidFill>
                  <a:srgbClr val="232F3E"/>
                </a:solidFill>
                <a:latin typeface="Calibri"/>
              </a:rPr>
              <a:t>Partnership as Practice</a:t>
            </a:r>
          </a:p>
        </p:txBody>
      </p:sp>
      <p:sp>
        <p:nvSpPr>
          <p:cNvPr id="9" name="TextBox 8"/>
          <p:cNvSpPr txBox="1"/>
          <p:nvPr/>
        </p:nvSpPr>
        <p:spPr>
          <a:xfrm>
            <a:off x="350000" y="45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How does the CCM give feedback to the CM? What is the tone?</a:t>
            </a:r>
          </a:p>
          <a:p>
            <a:pPr>
              <a:spcBef>
                <a:spcPts val="400"/>
              </a:spcBef>
              <a:spcAft>
                <a:spcPts val="200"/>
              </a:spcAft>
            </a:pPr>
            <a:r>
              <a:rPr sz="800">
                <a:solidFill>
                  <a:srgbClr val="1A1A1A"/>
                </a:solidFill>
                <a:latin typeface="Calibri"/>
              </a:rPr>
              <a:t>How does the CM respond when something is caught or corrected?</a:t>
            </a:r>
          </a:p>
          <a:p>
            <a:pPr>
              <a:spcBef>
                <a:spcPts val="400"/>
              </a:spcBef>
              <a:spcAft>
                <a:spcPts val="200"/>
              </a:spcAft>
            </a:pPr>
            <a:r>
              <a:rPr sz="800">
                <a:solidFill>
                  <a:srgbClr val="1A1A1A"/>
                </a:solidFill>
                <a:latin typeface="Calibri"/>
              </a:rPr>
              <a:t>Does accountability feel like surveillance, or like partnership? What makes it feel that way?</a:t>
            </a:r>
          </a:p>
        </p:txBody>
      </p:sp>
      <p:sp>
        <p:nvSpPr>
          <p:cNvPr id="10" name="TextBox 9"/>
          <p:cNvSpPr txBox="1"/>
          <p:nvPr/>
        </p:nvSpPr>
        <p:spPr>
          <a:xfrm>
            <a:off x="350000" y="175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11" name="Rectangle 10"/>
          <p:cNvSpPr/>
          <p:nvPr/>
        </p:nvSpPr>
        <p:spPr>
          <a:xfrm>
            <a:off x="4600000" y="150000"/>
            <a:ext cx="50000" cy="2100000"/>
          </a:xfrm>
          <a:prstGeom prst="rect">
            <a:avLst/>
          </a:prstGeom>
          <a:solidFill>
            <a:srgbClr val="EB5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0000" y="170000"/>
            <a:ext cx="3900000" cy="250000"/>
          </a:xfrm>
          <a:prstGeom prst="rect">
            <a:avLst/>
          </a:prstGeom>
          <a:noFill/>
        </p:spPr>
        <p:txBody>
          <a:bodyPr wrap="square">
            <a:spAutoFit/>
          </a:bodyPr>
          <a:lstStyle/>
          <a:p>
            <a:r>
              <a:rPr sz="1100" b="1">
                <a:solidFill>
                  <a:srgbClr val="232F3E"/>
                </a:solidFill>
                <a:latin typeface="Calibri"/>
              </a:rPr>
              <a:t>Self-QA</a:t>
            </a:r>
          </a:p>
        </p:txBody>
      </p:sp>
      <p:sp>
        <p:nvSpPr>
          <p:cNvPr id="13" name="TextBox 12"/>
          <p:cNvSpPr txBox="1"/>
          <p:nvPr/>
        </p:nvSpPr>
        <p:spPr>
          <a:xfrm>
            <a:off x="4700000" y="45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Does the CM check their own work before submitting? How?</a:t>
            </a:r>
          </a:p>
          <a:p>
            <a:pPr>
              <a:spcBef>
                <a:spcPts val="400"/>
              </a:spcBef>
              <a:spcAft>
                <a:spcPts val="200"/>
              </a:spcAft>
            </a:pPr>
            <a:r>
              <a:rPr sz="800">
                <a:solidFill>
                  <a:srgbClr val="1A1A1A"/>
                </a:solidFill>
                <a:latin typeface="Calibri"/>
              </a:rPr>
              <a:t>What does self-QA actually look like in practice? What are they checking for?</a:t>
            </a:r>
          </a:p>
          <a:p>
            <a:pPr>
              <a:spcBef>
                <a:spcPts val="400"/>
              </a:spcBef>
              <a:spcAft>
                <a:spcPts val="200"/>
              </a:spcAft>
            </a:pPr>
            <a:r>
              <a:rPr sz="800">
                <a:solidFill>
                  <a:srgbClr val="1A1A1A"/>
                </a:solidFill>
                <a:latin typeface="Calibri"/>
              </a:rPr>
              <a:t>When do they decide something is ready vs. needs another look?</a:t>
            </a:r>
          </a:p>
        </p:txBody>
      </p:sp>
      <p:sp>
        <p:nvSpPr>
          <p:cNvPr id="14" name="TextBox 13"/>
          <p:cNvSpPr txBox="1"/>
          <p:nvPr/>
        </p:nvSpPr>
        <p:spPr>
          <a:xfrm>
            <a:off x="4700000" y="175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15" name="Rectangle 14"/>
          <p:cNvSpPr/>
          <p:nvPr/>
        </p:nvSpPr>
        <p:spPr>
          <a:xfrm>
            <a:off x="250000" y="2500000"/>
            <a:ext cx="50000" cy="2100000"/>
          </a:xfrm>
          <a:prstGeom prst="rect">
            <a:avLst/>
          </a:prstGeom>
          <a:solidFill>
            <a:srgbClr val="6AA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000" y="2520000"/>
            <a:ext cx="3900000" cy="250000"/>
          </a:xfrm>
          <a:prstGeom prst="rect">
            <a:avLst/>
          </a:prstGeom>
          <a:noFill/>
        </p:spPr>
        <p:txBody>
          <a:bodyPr wrap="square">
            <a:spAutoFit/>
          </a:bodyPr>
          <a:lstStyle/>
          <a:p>
            <a:r>
              <a:rPr sz="1100" b="1">
                <a:solidFill>
                  <a:srgbClr val="232F3E"/>
                </a:solidFill>
                <a:latin typeface="Calibri"/>
              </a:rPr>
              <a:t>Reciprocal Accountability</a:t>
            </a:r>
          </a:p>
        </p:txBody>
      </p:sp>
      <p:sp>
        <p:nvSpPr>
          <p:cNvPr id="17" name="TextBox 16"/>
          <p:cNvSpPr txBox="1"/>
          <p:nvPr/>
        </p:nvSpPr>
        <p:spPr>
          <a:xfrm>
            <a:off x="350000" y="280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Is accountability one-directional (CCM checks CM) or does it flow both ways?</a:t>
            </a:r>
          </a:p>
          <a:p>
            <a:pPr>
              <a:spcBef>
                <a:spcPts val="400"/>
              </a:spcBef>
              <a:spcAft>
                <a:spcPts val="200"/>
              </a:spcAft>
            </a:pPr>
            <a:r>
              <a:rPr sz="800">
                <a:solidFill>
                  <a:srgbClr val="1A1A1A"/>
                </a:solidFill>
                <a:latin typeface="Calibri"/>
              </a:rPr>
              <a:t>What happens when the CCM makes a mistake? How is that handled?</a:t>
            </a:r>
          </a:p>
          <a:p>
            <a:pPr>
              <a:spcBef>
                <a:spcPts val="400"/>
              </a:spcBef>
              <a:spcAft>
                <a:spcPts val="200"/>
              </a:spcAft>
            </a:pPr>
            <a:r>
              <a:rPr sz="800">
                <a:solidFill>
                  <a:srgbClr val="1A1A1A"/>
                </a:solidFill>
                <a:latin typeface="Calibri"/>
              </a:rPr>
              <a:t>How does the "1 in, 1 out" system show up in how they talk about work?</a:t>
            </a:r>
          </a:p>
        </p:txBody>
      </p:sp>
      <p:sp>
        <p:nvSpPr>
          <p:cNvPr id="18" name="TextBox 17"/>
          <p:cNvSpPr txBox="1"/>
          <p:nvPr/>
        </p:nvSpPr>
        <p:spPr>
          <a:xfrm>
            <a:off x="350000" y="410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19" name="Rectangle 18"/>
          <p:cNvSpPr/>
          <p:nvPr/>
        </p:nvSpPr>
        <p:spPr>
          <a:xfrm>
            <a:off x="4600000" y="2500000"/>
            <a:ext cx="50000" cy="21000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0000" y="2520000"/>
            <a:ext cx="3900000" cy="250000"/>
          </a:xfrm>
          <a:prstGeom prst="rect">
            <a:avLst/>
          </a:prstGeom>
          <a:noFill/>
        </p:spPr>
        <p:txBody>
          <a:bodyPr wrap="square">
            <a:spAutoFit/>
          </a:bodyPr>
          <a:lstStyle/>
          <a:p>
            <a:r>
              <a:rPr sz="1100" b="1">
                <a:solidFill>
                  <a:srgbClr val="232F3E"/>
                </a:solidFill>
                <a:latin typeface="Calibri"/>
              </a:rPr>
              <a:t>What Accountability Sounds Like</a:t>
            </a:r>
          </a:p>
        </p:txBody>
      </p:sp>
      <p:sp>
        <p:nvSpPr>
          <p:cNvPr id="21" name="TextBox 20"/>
          <p:cNvSpPr txBox="1"/>
          <p:nvPr/>
        </p:nvSpPr>
        <p:spPr>
          <a:xfrm>
            <a:off x="4700000" y="280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What specific phrases or language do they use when giving or receiving feedback?</a:t>
            </a:r>
          </a:p>
          <a:p>
            <a:pPr>
              <a:spcBef>
                <a:spcPts val="400"/>
              </a:spcBef>
              <a:spcAft>
                <a:spcPts val="200"/>
              </a:spcAft>
            </a:pPr>
            <a:r>
              <a:rPr sz="800">
                <a:solidFill>
                  <a:srgbClr val="1A1A1A"/>
                </a:solidFill>
                <a:latin typeface="Calibri"/>
              </a:rPr>
              <a:t>What does it sound like when someone owns a mistake vs. deflects it?</a:t>
            </a:r>
          </a:p>
          <a:p>
            <a:pPr>
              <a:spcBef>
                <a:spcPts val="400"/>
              </a:spcBef>
              <a:spcAft>
                <a:spcPts val="200"/>
              </a:spcAft>
            </a:pPr>
            <a:r>
              <a:rPr sz="800">
                <a:solidFill>
                  <a:srgbClr val="1A1A1A"/>
                </a:solidFill>
                <a:latin typeface="Calibri"/>
              </a:rPr>
              <a:t>What would you want to sound like in a QA conversation?</a:t>
            </a:r>
          </a:p>
        </p:txBody>
      </p:sp>
      <p:sp>
        <p:nvSpPr>
          <p:cNvPr id="22" name="TextBox 21"/>
          <p:cNvSpPr txBox="1"/>
          <p:nvPr/>
        </p:nvSpPr>
        <p:spPr>
          <a:xfrm>
            <a:off x="4700000" y="410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23" name="TextBox 22"/>
          <p:cNvSpPr txBox="1"/>
          <p:nvPr/>
        </p:nvSpPr>
        <p:spPr>
          <a:xfrm>
            <a:off x="250000" y="4750000"/>
            <a:ext cx="7800000" cy="300000"/>
          </a:xfrm>
          <a:prstGeom prst="rect">
            <a:avLst/>
          </a:prstGeom>
          <a:noFill/>
        </p:spPr>
        <p:txBody>
          <a:bodyPr wrap="square">
            <a:spAutoFit/>
          </a:bodyPr>
          <a:lstStyle/>
          <a:p>
            <a:r>
              <a:rPr sz="800">
                <a:solidFill>
                  <a:srgbClr val="1A9988"/>
                </a:solidFill>
                <a:latin typeface="Calibri"/>
              </a:rPr>
              <a:t>After the debrief:  The biggest difference between QA in AdOps and QA in this model  /  One thing I want to practice before Stage 1</a:t>
            </a:r>
          </a:p>
        </p:txBody>
      </p:sp>
      <p:sp>
        <p:nvSpPr>
          <p:cNvPr id="24" name="TextBox 23"/>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13</a:t>
            </a:r>
          </a:p>
        </p:txBody>
      </p:sp>
      <p:sp>
        <p:nvSpPr>
          <p:cNvPr id="25" name="TextBox 24"/>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821918" y="958862"/>
            <a:ext cx="481330" cy="452120"/>
          </a:xfrm>
          <a:prstGeom prst="rect">
            <a:avLst/>
          </a:prstGeom>
          <a:noFill/>
        </p:spPr>
        <p:txBody>
          <a:bodyPr wrap="square">
            <a:spAutoFit/>
          </a:bodyPr>
          <a:lstStyle/>
          <a:p>
            <a:r>
              <a:rPr sz="2800" b="1">
                <a:solidFill>
                  <a:srgbClr val="1A9988"/>
                </a:solidFill>
                <a:latin typeface="Calibri"/>
              </a:rPr>
              <a:t>06</a:t>
            </a:r>
          </a:p>
        </p:txBody>
      </p:sp>
      <p:sp>
        <p:nvSpPr>
          <p:cNvPr id="8" name="TextBox 7"/>
          <p:cNvSpPr txBox="1"/>
          <p:nvPr/>
        </p:nvSpPr>
        <p:spPr>
          <a:xfrm>
            <a:off x="821918" y="1600000"/>
            <a:ext cx="5000000" cy="1200000"/>
          </a:xfrm>
          <a:prstGeom prst="rect">
            <a:avLst/>
          </a:prstGeom>
          <a:noFill/>
        </p:spPr>
        <p:txBody>
          <a:bodyPr wrap="square">
            <a:spAutoFit/>
          </a:bodyPr>
          <a:lstStyle/>
          <a:p>
            <a:r>
              <a:rPr sz="4200">
                <a:solidFill>
                  <a:srgbClr val="1C2D42"/>
                </a:solidFill>
                <a:latin typeface="Calibri"/>
              </a:rPr>
              <a:t>Observation Guide
Day 3</a:t>
            </a:r>
          </a:p>
        </p:txBody>
      </p:sp>
      <p:sp>
        <p:nvSpPr>
          <p:cNvPr id="9" name="TextBox 8"/>
          <p:cNvSpPr txBox="1"/>
          <p:nvPr/>
        </p:nvSpPr>
        <p:spPr>
          <a:xfrm>
            <a:off x="821918" y="3200000"/>
            <a:ext cx="6000000" cy="900000"/>
          </a:xfrm>
          <a:prstGeom prst="rect">
            <a:avLst/>
          </a:prstGeom>
          <a:noFill/>
        </p:spPr>
        <p:txBody>
          <a:bodyPr wrap="square">
            <a:spAutoFit/>
          </a:bodyPr>
          <a:lstStyle/>
          <a:p>
            <a:r>
              <a:rPr sz="1600" b="1">
                <a:solidFill>
                  <a:srgbClr val="1A9988"/>
                </a:solidFill>
                <a:latin typeface="Calibri"/>
              </a:rPr>
              <a:t>Stage 1 Simulation</a:t>
            </a:r>
          </a:p>
          <a:p>
            <a:pPr algn="l">
              <a:spcBef>
                <a:spcPts val="1200"/>
              </a:spcBef>
              <a:spcAft>
                <a:spcPts val="400"/>
              </a:spcAft>
            </a:pPr>
            <a:r>
              <a:rPr sz="1000" b="0" i="0">
                <a:solidFill>
                  <a:srgbClr val="1A1A1A"/>
                </a:solidFill>
                <a:latin typeface="Calibri"/>
              </a:rPr>
              <a:t>The focus question for this session: What did the CM do well, and what would I do differently?</a:t>
            </a:r>
          </a:p>
          <a:p>
            <a:pPr algn="l">
              <a:spcBef>
                <a:spcPts val="800"/>
              </a:spcBef>
              <a:spcAft>
                <a:spcPts val="400"/>
              </a:spcAft>
            </a:pPr>
            <a:r>
              <a:rPr sz="1000" b="0" i="0">
                <a:solidFill>
                  <a:srgbClr val="1A1A1A"/>
                </a:solidFill>
                <a:latin typeface="Calibri"/>
              </a:rPr>
              <a:t>Watch the CM in the simulation the way you would want someone to watch you. You are not looking for mistakes. You are looking for decision points.</a:t>
            </a:r>
          </a:p>
        </p:txBody>
      </p:sp>
      <p:sp>
        <p:nvSpPr>
          <p:cNvPr id="10" name="TextBox 9"/>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14</a:t>
            </a:r>
          </a:p>
        </p:txBody>
      </p:sp>
      <p:sp>
        <p:nvSpPr>
          <p:cNvPr id="11" name="TextBox 10"/>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ectangle 6"/>
          <p:cNvSpPr/>
          <p:nvPr/>
        </p:nvSpPr>
        <p:spPr>
          <a:xfrm>
            <a:off x="250000" y="150000"/>
            <a:ext cx="50000" cy="2100000"/>
          </a:xfrm>
          <a:prstGeom prst="rect">
            <a:avLst/>
          </a:prstGeom>
          <a:solidFill>
            <a:srgbClr val="1A9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0000" y="170000"/>
            <a:ext cx="3900000" cy="250000"/>
          </a:xfrm>
          <a:prstGeom prst="rect">
            <a:avLst/>
          </a:prstGeom>
          <a:noFill/>
        </p:spPr>
        <p:txBody>
          <a:bodyPr wrap="square">
            <a:spAutoFit/>
          </a:bodyPr>
          <a:lstStyle/>
          <a:p>
            <a:r>
              <a:rPr sz="1100" b="1">
                <a:solidFill>
                  <a:srgbClr val="232F3E"/>
                </a:solidFill>
                <a:latin typeface="Calibri"/>
              </a:rPr>
              <a:t>Receiving the Assignment</a:t>
            </a:r>
          </a:p>
        </p:txBody>
      </p:sp>
      <p:sp>
        <p:nvSpPr>
          <p:cNvPr id="9" name="TextBox 8"/>
          <p:cNvSpPr txBox="1"/>
          <p:nvPr/>
        </p:nvSpPr>
        <p:spPr>
          <a:xfrm>
            <a:off x="350000" y="45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How did the CM respond when they got the task? Did they ask a clarifying question, or start working immediately?</a:t>
            </a:r>
          </a:p>
          <a:p>
            <a:pPr>
              <a:spcBef>
                <a:spcPts val="400"/>
              </a:spcBef>
              <a:spcAft>
                <a:spcPts val="200"/>
              </a:spcAft>
            </a:pPr>
            <a:r>
              <a:rPr sz="800">
                <a:solidFill>
                  <a:srgbClr val="1A1A1A"/>
                </a:solidFill>
                <a:latin typeface="Calibri"/>
              </a:rPr>
              <a:t>What did they seem to understand right away? What seemed unclear?</a:t>
            </a:r>
          </a:p>
          <a:p>
            <a:pPr>
              <a:spcBef>
                <a:spcPts val="400"/>
              </a:spcBef>
              <a:spcAft>
                <a:spcPts val="200"/>
              </a:spcAft>
            </a:pPr>
            <a:r>
              <a:rPr sz="800">
                <a:solidFill>
                  <a:srgbClr val="1A1A1A"/>
                </a:solidFill>
                <a:latin typeface="Calibri"/>
              </a:rPr>
              <a:t>What would you have done in the first 60 seconds?</a:t>
            </a:r>
          </a:p>
        </p:txBody>
      </p:sp>
      <p:sp>
        <p:nvSpPr>
          <p:cNvPr id="10" name="TextBox 9"/>
          <p:cNvSpPr txBox="1"/>
          <p:nvPr/>
        </p:nvSpPr>
        <p:spPr>
          <a:xfrm>
            <a:off x="350000" y="175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11" name="Rectangle 10"/>
          <p:cNvSpPr/>
          <p:nvPr/>
        </p:nvSpPr>
        <p:spPr>
          <a:xfrm>
            <a:off x="4600000" y="150000"/>
            <a:ext cx="50000" cy="2100000"/>
          </a:xfrm>
          <a:prstGeom prst="rect">
            <a:avLst/>
          </a:prstGeom>
          <a:solidFill>
            <a:srgbClr val="EB5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0000" y="170000"/>
            <a:ext cx="3900000" cy="250000"/>
          </a:xfrm>
          <a:prstGeom prst="rect">
            <a:avLst/>
          </a:prstGeom>
          <a:noFill/>
        </p:spPr>
        <p:txBody>
          <a:bodyPr wrap="square">
            <a:spAutoFit/>
          </a:bodyPr>
          <a:lstStyle/>
          <a:p>
            <a:r>
              <a:rPr sz="1100" b="1">
                <a:solidFill>
                  <a:srgbClr val="232F3E"/>
                </a:solidFill>
                <a:latin typeface="Calibri"/>
              </a:rPr>
              <a:t>Communication</a:t>
            </a:r>
          </a:p>
        </p:txBody>
      </p:sp>
      <p:sp>
        <p:nvSpPr>
          <p:cNvPr id="13" name="TextBox 12"/>
          <p:cNvSpPr txBox="1"/>
          <p:nvPr/>
        </p:nvSpPr>
        <p:spPr>
          <a:xfrm>
            <a:off x="4700000" y="45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Did the CM communicate proactively, or did they wait to be asked?</a:t>
            </a:r>
          </a:p>
          <a:p>
            <a:pPr>
              <a:spcBef>
                <a:spcPts val="400"/>
              </a:spcBef>
              <a:spcAft>
                <a:spcPts val="200"/>
              </a:spcAft>
            </a:pPr>
            <a:r>
              <a:rPr sz="800">
                <a:solidFill>
                  <a:srgbClr val="1A1A1A"/>
                </a:solidFill>
                <a:latin typeface="Calibri"/>
              </a:rPr>
              <a:t>How did they handle the moment when they hit a blocker?</a:t>
            </a:r>
          </a:p>
          <a:p>
            <a:pPr>
              <a:spcBef>
                <a:spcPts val="400"/>
              </a:spcBef>
              <a:spcAft>
                <a:spcPts val="200"/>
              </a:spcAft>
            </a:pPr>
            <a:r>
              <a:rPr sz="800">
                <a:solidFill>
                  <a:srgbClr val="1A1A1A"/>
                </a:solidFill>
                <a:latin typeface="Calibri"/>
              </a:rPr>
              <a:t>What did they say to the CCM, and what did they not say that they probably should have?</a:t>
            </a:r>
          </a:p>
        </p:txBody>
      </p:sp>
      <p:sp>
        <p:nvSpPr>
          <p:cNvPr id="14" name="TextBox 13"/>
          <p:cNvSpPr txBox="1"/>
          <p:nvPr/>
        </p:nvSpPr>
        <p:spPr>
          <a:xfrm>
            <a:off x="4700000" y="175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15" name="Rectangle 14"/>
          <p:cNvSpPr/>
          <p:nvPr/>
        </p:nvSpPr>
        <p:spPr>
          <a:xfrm>
            <a:off x="250000" y="2500000"/>
            <a:ext cx="50000" cy="2100000"/>
          </a:xfrm>
          <a:prstGeom prst="rect">
            <a:avLst/>
          </a:prstGeom>
          <a:solidFill>
            <a:srgbClr val="6AA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000" y="2520000"/>
            <a:ext cx="3900000" cy="250000"/>
          </a:xfrm>
          <a:prstGeom prst="rect">
            <a:avLst/>
          </a:prstGeom>
          <a:noFill/>
        </p:spPr>
        <p:txBody>
          <a:bodyPr wrap="square">
            <a:spAutoFit/>
          </a:bodyPr>
          <a:lstStyle/>
          <a:p>
            <a:r>
              <a:rPr sz="1100" b="1">
                <a:solidFill>
                  <a:srgbClr val="232F3E"/>
                </a:solidFill>
                <a:latin typeface="Calibri"/>
              </a:rPr>
              <a:t>Navigating Uncertainty</a:t>
            </a:r>
          </a:p>
        </p:txBody>
      </p:sp>
      <p:sp>
        <p:nvSpPr>
          <p:cNvPr id="17" name="TextBox 16"/>
          <p:cNvSpPr txBox="1"/>
          <p:nvPr/>
        </p:nvSpPr>
        <p:spPr>
          <a:xfrm>
            <a:off x="350000" y="280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Was there a moment where the CM did not know what to do? How did they handle it?</a:t>
            </a:r>
          </a:p>
          <a:p>
            <a:pPr>
              <a:spcBef>
                <a:spcPts val="400"/>
              </a:spcBef>
              <a:spcAft>
                <a:spcPts val="200"/>
              </a:spcAft>
            </a:pPr>
            <a:r>
              <a:rPr sz="800">
                <a:solidFill>
                  <a:srgbClr val="1A1A1A"/>
                </a:solidFill>
                <a:latin typeface="Calibri"/>
              </a:rPr>
              <a:t>Did they use Ask, Attempt, Escalate, or did they skip a step?</a:t>
            </a:r>
          </a:p>
          <a:p>
            <a:pPr>
              <a:spcBef>
                <a:spcPts val="400"/>
              </a:spcBef>
              <a:spcAft>
                <a:spcPts val="200"/>
              </a:spcAft>
            </a:pPr>
            <a:r>
              <a:rPr sz="800">
                <a:solidFill>
                  <a:srgbClr val="1A1A1A"/>
                </a:solidFill>
                <a:latin typeface="Calibri"/>
              </a:rPr>
              <a:t>What would confident uncertainty have looked like in that moment?</a:t>
            </a:r>
          </a:p>
        </p:txBody>
      </p:sp>
      <p:sp>
        <p:nvSpPr>
          <p:cNvPr id="18" name="TextBox 17"/>
          <p:cNvSpPr txBox="1"/>
          <p:nvPr/>
        </p:nvSpPr>
        <p:spPr>
          <a:xfrm>
            <a:off x="350000" y="410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19" name="Rectangle 18"/>
          <p:cNvSpPr/>
          <p:nvPr/>
        </p:nvSpPr>
        <p:spPr>
          <a:xfrm>
            <a:off x="4600000" y="2500000"/>
            <a:ext cx="50000" cy="21000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0000" y="2520000"/>
            <a:ext cx="3900000" cy="250000"/>
          </a:xfrm>
          <a:prstGeom prst="rect">
            <a:avLst/>
          </a:prstGeom>
          <a:noFill/>
        </p:spPr>
        <p:txBody>
          <a:bodyPr wrap="square">
            <a:spAutoFit/>
          </a:bodyPr>
          <a:lstStyle/>
          <a:p>
            <a:r>
              <a:rPr sz="1100" b="1">
                <a:solidFill>
                  <a:srgbClr val="232F3E"/>
                </a:solidFill>
                <a:latin typeface="Calibri"/>
              </a:rPr>
              <a:t>Self-QA</a:t>
            </a:r>
          </a:p>
        </p:txBody>
      </p:sp>
      <p:sp>
        <p:nvSpPr>
          <p:cNvPr id="21" name="TextBox 20"/>
          <p:cNvSpPr txBox="1"/>
          <p:nvPr/>
        </p:nvSpPr>
        <p:spPr>
          <a:xfrm>
            <a:off x="4700000" y="2800000"/>
            <a:ext cx="3900000" cy="1200000"/>
          </a:xfrm>
          <a:prstGeom prst="rect">
            <a:avLst/>
          </a:prstGeom>
          <a:noFill/>
        </p:spPr>
        <p:txBody>
          <a:bodyPr wrap="square">
            <a:spAutoFit/>
          </a:bodyPr>
          <a:lstStyle/>
          <a:p>
            <a:pPr>
              <a:spcBef>
                <a:spcPts val="400"/>
              </a:spcBef>
              <a:spcAft>
                <a:spcPts val="200"/>
              </a:spcAft>
            </a:pPr>
            <a:r>
              <a:rPr sz="800">
                <a:solidFill>
                  <a:srgbClr val="1A1A1A"/>
                </a:solidFill>
                <a:latin typeface="Calibri"/>
              </a:rPr>
              <a:t>Did the CM check their work before completing the task?</a:t>
            </a:r>
          </a:p>
          <a:p>
            <a:pPr>
              <a:spcBef>
                <a:spcPts val="400"/>
              </a:spcBef>
              <a:spcAft>
                <a:spcPts val="200"/>
              </a:spcAft>
            </a:pPr>
            <a:r>
              <a:rPr sz="800">
                <a:solidFill>
                  <a:srgbClr val="1A1A1A"/>
                </a:solidFill>
                <a:latin typeface="Calibri"/>
              </a:rPr>
              <a:t>What did they seem to be checking for?</a:t>
            </a:r>
          </a:p>
          <a:p>
            <a:pPr>
              <a:spcBef>
                <a:spcPts val="400"/>
              </a:spcBef>
              <a:spcAft>
                <a:spcPts val="200"/>
              </a:spcAft>
            </a:pPr>
            <a:r>
              <a:rPr sz="800">
                <a:solidFill>
                  <a:srgbClr val="1A1A1A"/>
                </a:solidFill>
                <a:latin typeface="Calibri"/>
              </a:rPr>
              <a:t>What would you add to their self-QA process?</a:t>
            </a:r>
          </a:p>
        </p:txBody>
      </p:sp>
      <p:sp>
        <p:nvSpPr>
          <p:cNvPr id="22" name="TextBox 21"/>
          <p:cNvSpPr txBox="1"/>
          <p:nvPr/>
        </p:nvSpPr>
        <p:spPr>
          <a:xfrm>
            <a:off x="4700000" y="4100000"/>
            <a:ext cx="3900000" cy="350000"/>
          </a:xfrm>
          <a:prstGeom prst="rect">
            <a:avLst/>
          </a:prstGeom>
          <a:noFill/>
        </p:spPr>
        <p:txBody>
          <a:bodyPr wrap="square">
            <a:spAutoFit/>
          </a:bodyPr>
          <a:lstStyle/>
          <a:p>
            <a:r>
              <a:rPr sz="800">
                <a:solidFill>
                  <a:srgbClr val="696B6E"/>
                </a:solidFill>
                <a:latin typeface="Calibri"/>
              </a:rPr>
              <a:t>What I noticed:</a:t>
            </a:r>
          </a:p>
          <a:p>
            <a:r>
              <a:rPr sz="700">
                <a:solidFill>
                  <a:srgbClr val="CCCCCC"/>
                </a:solidFill>
                <a:latin typeface="Calibri"/>
              </a:rPr>
              <a:t>____________________________________________</a:t>
            </a:r>
          </a:p>
        </p:txBody>
      </p:sp>
      <p:sp>
        <p:nvSpPr>
          <p:cNvPr id="23" name="TextBox 22"/>
          <p:cNvSpPr txBox="1"/>
          <p:nvPr/>
        </p:nvSpPr>
        <p:spPr>
          <a:xfrm>
            <a:off x="250000" y="4750000"/>
            <a:ext cx="7800000" cy="300000"/>
          </a:xfrm>
          <a:prstGeom prst="rect">
            <a:avLst/>
          </a:prstGeom>
          <a:noFill/>
        </p:spPr>
        <p:txBody>
          <a:bodyPr wrap="square">
            <a:spAutoFit/>
          </a:bodyPr>
          <a:lstStyle/>
          <a:p>
            <a:r>
              <a:rPr sz="800">
                <a:solidFill>
                  <a:srgbClr val="1A9988"/>
                </a:solidFill>
                <a:latin typeface="Calibri"/>
              </a:rPr>
              <a:t>After the debrief:  One thing the CM did that I want to carry into Stage 1  /  One thing I would do differently  /  One thing I now feel ready for</a:t>
            </a:r>
          </a:p>
        </p:txBody>
      </p:sp>
      <p:sp>
        <p:nvSpPr>
          <p:cNvPr id="24" name="TextBox 23"/>
          <p:cNvSpPr txBox="1"/>
          <p:nvPr/>
        </p:nvSpPr>
        <p:spPr>
          <a:xfrm>
            <a:off x="213600" y="4854587"/>
            <a:ext cx="100000" cy="132080"/>
          </a:xfrm>
          <a:prstGeom prst="rect">
            <a:avLst/>
          </a:prstGeom>
          <a:noFill/>
        </p:spPr>
        <p:txBody>
          <a:bodyPr wrap="square">
            <a:spAutoFit/>
          </a:bodyPr>
          <a:lstStyle/>
          <a:p>
            <a:r>
              <a:rPr sz="700">
                <a:solidFill>
                  <a:srgbClr val="232F3E"/>
                </a:solidFill>
                <a:latin typeface="Arial"/>
              </a:rPr>
              <a:t>15</a:t>
            </a:r>
          </a:p>
        </p:txBody>
      </p:sp>
      <p:sp>
        <p:nvSpPr>
          <p:cNvPr id="25" name="TextBox 24"/>
          <p:cNvSpPr txBox="1"/>
          <p:nvPr/>
        </p:nvSpPr>
        <p:spPr>
          <a:xfrm>
            <a:off x="8128000" y="4835000"/>
            <a:ext cx="800000" cy="102000"/>
          </a:xfrm>
          <a:prstGeom prst="rect">
            <a:avLst/>
          </a:prstGeom>
          <a:noFill/>
        </p:spPr>
        <p:txBody>
          <a:bodyPr wrap="square">
            <a:spAutoFit/>
          </a:bodyPr>
          <a:lstStyle/>
          <a:p>
            <a:r>
              <a:rPr sz="500">
                <a:solidFill>
                  <a:srgbClr val="696B6E"/>
                </a:solidFill>
                <a:latin typeface="Arial"/>
              </a:rPr>
              <a:t>AMAZON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Rectangle 6"/>
          <p:cNvSpPr/>
          <p:nvPr/>
        </p:nvSpPr>
        <p:spPr>
          <a:xfrm>
            <a:off x="0" y="0"/>
            <a:ext cx="9144000" cy="5143500"/>
          </a:xfrm>
          <a:prstGeom prst="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0000" y="1400000"/>
            <a:ext cx="6000000" cy="800000"/>
          </a:xfrm>
          <a:prstGeom prst="rect">
            <a:avLst/>
          </a:prstGeom>
          <a:noFill/>
        </p:spPr>
        <p:txBody>
          <a:bodyPr wrap="square">
            <a:spAutoFit/>
          </a:bodyPr>
          <a:lstStyle/>
          <a:p>
            <a:pPr algn="ctr"/>
            <a:r>
              <a:rPr sz="2200" b="1">
                <a:solidFill>
                  <a:srgbClr val="FFFFFF"/>
                </a:solidFill>
                <a:latin typeface="Calibri"/>
              </a:rPr>
              <a:t>Look back at your Day 1 and Day 2 notes.</a:t>
            </a:r>
          </a:p>
        </p:txBody>
      </p:sp>
      <p:sp>
        <p:nvSpPr>
          <p:cNvPr id="9" name="TextBox 8"/>
          <p:cNvSpPr txBox="1"/>
          <p:nvPr/>
        </p:nvSpPr>
        <p:spPr>
          <a:xfrm>
            <a:off x="1500000" y="2400000"/>
            <a:ext cx="6000000" cy="600000"/>
          </a:xfrm>
          <a:prstGeom prst="rect">
            <a:avLst/>
          </a:prstGeom>
          <a:noFill/>
        </p:spPr>
        <p:txBody>
          <a:bodyPr wrap="square">
            <a:spAutoFit/>
          </a:bodyPr>
          <a:lstStyle/>
          <a:p>
            <a:pPr algn="ctr"/>
            <a:r>
              <a:rPr sz="1800">
                <a:solidFill>
                  <a:srgbClr val="1A9988"/>
                </a:solidFill>
                <a:latin typeface="Calibri"/>
              </a:rPr>
              <a:t>What changed in how you see this work?</a:t>
            </a:r>
          </a:p>
        </p:txBody>
      </p:sp>
      <p:sp>
        <p:nvSpPr>
          <p:cNvPr id="10" name="TextBox 9"/>
          <p:cNvSpPr txBox="1"/>
          <p:nvPr/>
        </p:nvSpPr>
        <p:spPr>
          <a:xfrm>
            <a:off x="1500000" y="3600000"/>
            <a:ext cx="6000000" cy="600000"/>
          </a:xfrm>
          <a:prstGeom prst="rect">
            <a:avLst/>
          </a:prstGeom>
          <a:noFill/>
        </p:spPr>
        <p:txBody>
          <a:bodyPr wrap="square">
            <a:spAutoFit/>
          </a:bodyPr>
          <a:lstStyle/>
          <a:p>
            <a:pPr algn="ctr"/>
            <a:r>
              <a:rPr sz="1100">
                <a:solidFill>
                  <a:srgbClr val="AAAAAA"/>
                </a:solidFill>
                <a:latin typeface="Calibri"/>
              </a:rPr>
              <a:t>This guide is yours now. Adapt it to your account.
Ask your CCM what works for them. Then make it your own.</a:t>
            </a:r>
          </a:p>
        </p:txBody>
      </p:sp>
      <p:sp>
        <p:nvSpPr>
          <p:cNvPr id="11" name="TextBox 10"/>
          <p:cNvSpPr txBox="1"/>
          <p:nvPr/>
        </p:nvSpPr>
        <p:spPr>
          <a:xfrm>
            <a:off x="213600" y="4854587"/>
            <a:ext cx="100000" cy="132080"/>
          </a:xfrm>
          <a:prstGeom prst="rect">
            <a:avLst/>
          </a:prstGeom>
          <a:noFill/>
        </p:spPr>
        <p:txBody>
          <a:bodyPr wrap="square">
            <a:spAutoFit/>
          </a:bodyPr>
          <a:lstStyle/>
          <a:p>
            <a:r>
              <a:rPr sz="700">
                <a:solidFill>
                  <a:srgbClr val="FFFFFF"/>
                </a:solidFill>
                <a:latin typeface="Arial"/>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